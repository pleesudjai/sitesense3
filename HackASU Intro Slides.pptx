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01"/>
    <p:restoredTop sz="94610"/>
  </p:normalViewPr>
  <p:slideViewPr>
    <p:cSldViewPr snapToGrid="0" snapToObjects="1">
      <p:cViewPr>
        <p:scale>
          <a:sx n="87" d="100"/>
          <a:sy n="87" d="100"/>
        </p:scale>
        <p:origin x="544" y="1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712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agent.tinyfish.ai/makeasplash?source=asuclaudeh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1212"/>
          </a:solidFill>
          <a:ln/>
        </p:spPr>
        <p:txBody>
          <a:bodyPr/>
          <a:lstStyle/>
          <a:p>
            <a:endParaRPr lang="en-US"/>
          </a:p>
        </p:txBody>
      </p:sp>
      <p:sp>
        <p:nvSpPr>
          <p:cNvPr id="3" name="Shape 1"/>
          <p:cNvSpPr/>
          <p:nvPr/>
        </p:nvSpPr>
        <p:spPr>
          <a:xfrm>
            <a:off x="0" y="0"/>
            <a:ext cx="9144000" cy="54864"/>
          </a:xfrm>
          <a:prstGeom prst="rect">
            <a:avLst/>
          </a:prstGeom>
          <a:solidFill>
            <a:srgbClr val="E07B3C"/>
          </a:solidFill>
          <a:ln/>
        </p:spPr>
        <p:txBody>
          <a:bodyPr/>
          <a:lstStyle/>
          <a:p>
            <a:endParaRPr lang="en-US"/>
          </a:p>
        </p:txBody>
      </p:sp>
      <p:sp>
        <p:nvSpPr>
          <p:cNvPr id="4" name="Text 2"/>
          <p:cNvSpPr/>
          <p:nvPr/>
        </p:nvSpPr>
        <p:spPr>
          <a:xfrm>
            <a:off x="457200" y="731520"/>
            <a:ext cx="8229600" cy="1097280"/>
          </a:xfrm>
          <a:prstGeom prst="rect">
            <a:avLst/>
          </a:prstGeom>
          <a:noFill/>
          <a:ln/>
        </p:spPr>
        <p:txBody>
          <a:bodyPr wrap="square" lIns="0" tIns="0" rIns="0" bIns="0" rtlCol="0" anchor="ctr"/>
          <a:lstStyle/>
          <a:p>
            <a:pPr marL="0" indent="0" algn="ctr">
              <a:buNone/>
            </a:pPr>
            <a:r>
              <a:rPr lang="en-US" sz="5400" b="1" kern="0" spc="400" dirty="0">
                <a:solidFill>
                  <a:srgbClr val="FFFFFF"/>
                </a:solidFill>
                <a:latin typeface="Arial Black" pitchFamily="34" charset="0"/>
                <a:ea typeface="Arial Black" pitchFamily="34" charset="-122"/>
                <a:cs typeface="Arial Black" pitchFamily="34" charset="-120"/>
              </a:rPr>
              <a:t>HackASU</a:t>
            </a:r>
            <a:endParaRPr lang="en-US" sz="5400" dirty="0"/>
          </a:p>
        </p:txBody>
      </p:sp>
      <p:sp>
        <p:nvSpPr>
          <p:cNvPr id="5" name="Text 3"/>
          <p:cNvSpPr/>
          <p:nvPr/>
        </p:nvSpPr>
        <p:spPr>
          <a:xfrm>
            <a:off x="457200" y="1737360"/>
            <a:ext cx="8229600" cy="548640"/>
          </a:xfrm>
          <a:prstGeom prst="rect">
            <a:avLst/>
          </a:prstGeom>
          <a:noFill/>
          <a:ln/>
        </p:spPr>
        <p:txBody>
          <a:bodyPr wrap="square" lIns="0" tIns="0" rIns="0" bIns="0" rtlCol="0" anchor="ctr"/>
          <a:lstStyle/>
          <a:p>
            <a:pPr marL="0" indent="0" algn="ctr">
              <a:buNone/>
            </a:pPr>
            <a:r>
              <a:rPr lang="en-US" sz="2200" dirty="0">
                <a:solidFill>
                  <a:srgbClr val="E07B3C"/>
                </a:solidFill>
                <a:latin typeface="Calibri" pitchFamily="34" charset="0"/>
                <a:ea typeface="Calibri" pitchFamily="34" charset="-122"/>
                <a:cs typeface="Calibri" pitchFamily="34" charset="-120"/>
              </a:rPr>
              <a:t>Claude Builder Club Hackathon</a:t>
            </a:r>
            <a:endParaRPr lang="en-US" sz="2200" dirty="0"/>
          </a:p>
        </p:txBody>
      </p:sp>
      <p:sp>
        <p:nvSpPr>
          <p:cNvPr id="6" name="Text 4"/>
          <p:cNvSpPr/>
          <p:nvPr/>
        </p:nvSpPr>
        <p:spPr>
          <a:xfrm>
            <a:off x="457200" y="2286000"/>
            <a:ext cx="8229600" cy="457200"/>
          </a:xfrm>
          <a:prstGeom prst="rect">
            <a:avLst/>
          </a:prstGeom>
          <a:noFill/>
          <a:ln/>
        </p:spPr>
        <p:txBody>
          <a:bodyPr wrap="square" lIns="0" tIns="0" rIns="0" bIns="0" rtlCol="0" anchor="ctr"/>
          <a:lstStyle/>
          <a:p>
            <a:pPr marL="0" indent="0" algn="ctr">
              <a:buNone/>
            </a:pPr>
            <a:r>
              <a:rPr lang="en-US" sz="1600" dirty="0">
                <a:solidFill>
                  <a:srgbClr val="999999"/>
                </a:solidFill>
                <a:latin typeface="Calibri" pitchFamily="34" charset="0"/>
                <a:ea typeface="Calibri" pitchFamily="34" charset="-122"/>
                <a:cs typeface="Calibri" pitchFamily="34" charset="-120"/>
              </a:rPr>
              <a:t>March 20 – 22, 2026  |  PSH 150 / 151</a:t>
            </a:r>
            <a:endParaRPr lang="en-US" sz="1600" dirty="0"/>
          </a:p>
        </p:txBody>
      </p:sp>
      <p:sp>
        <p:nvSpPr>
          <p:cNvPr id="7" name="Shape 5"/>
          <p:cNvSpPr/>
          <p:nvPr/>
        </p:nvSpPr>
        <p:spPr>
          <a:xfrm>
            <a:off x="3200400" y="2926080"/>
            <a:ext cx="2743200" cy="0"/>
          </a:xfrm>
          <a:prstGeom prst="line">
            <a:avLst/>
          </a:prstGeom>
          <a:noFill/>
          <a:ln w="25400">
            <a:solidFill>
              <a:srgbClr val="E07B3C"/>
            </a:solidFill>
            <a:prstDash val="solid"/>
          </a:ln>
        </p:spPr>
        <p:txBody>
          <a:bodyPr/>
          <a:lstStyle/>
          <a:p>
            <a:endParaRPr lang="en-US"/>
          </a:p>
        </p:txBody>
      </p:sp>
      <p:sp>
        <p:nvSpPr>
          <p:cNvPr id="8" name="Text 6"/>
          <p:cNvSpPr/>
          <p:nvPr/>
        </p:nvSpPr>
        <p:spPr>
          <a:xfrm>
            <a:off x="457200" y="3200400"/>
            <a:ext cx="822960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Thank you for being here!</a:t>
            </a:r>
            <a:endParaRPr lang="en-US" sz="2800" dirty="0"/>
          </a:p>
        </p:txBody>
      </p:sp>
      <p:sp>
        <p:nvSpPr>
          <p:cNvPr id="9" name="Text 7"/>
          <p:cNvSpPr/>
          <p:nvPr/>
        </p:nvSpPr>
        <p:spPr>
          <a:xfrm>
            <a:off x="914400" y="3840480"/>
            <a:ext cx="7315200" cy="457200"/>
          </a:xfrm>
          <a:prstGeom prst="rect">
            <a:avLst/>
          </a:prstGeom>
          <a:noFill/>
          <a:ln/>
        </p:spPr>
        <p:txBody>
          <a:bodyPr wrap="square" lIns="0" tIns="0" rIns="0" bIns="0" rtlCol="0" anchor="ctr"/>
          <a:lstStyle/>
          <a:p>
            <a:pPr marL="0" indent="0" algn="ctr">
              <a:buNone/>
            </a:pPr>
            <a:r>
              <a:rPr lang="en-US" sz="1600" dirty="0">
                <a:solidFill>
                  <a:srgbClr val="C8C8C8"/>
                </a:solidFill>
                <a:latin typeface="Calibri" pitchFamily="34" charset="0"/>
                <a:ea typeface="Calibri" pitchFamily="34" charset="-122"/>
                <a:cs typeface="Calibri" pitchFamily="34" charset="-120"/>
              </a:rPr>
              <a:t>We're excited to see what you build this weekend.</a:t>
            </a:r>
            <a:endParaRPr lang="en-US" sz="1600" dirty="0"/>
          </a:p>
        </p:txBody>
      </p:sp>
      <p:sp>
        <p:nvSpPr>
          <p:cNvPr id="10" name="Shape 8"/>
          <p:cNvSpPr/>
          <p:nvPr/>
        </p:nvSpPr>
        <p:spPr>
          <a:xfrm>
            <a:off x="0" y="5088636"/>
            <a:ext cx="9144000" cy="54864"/>
          </a:xfrm>
          <a:prstGeom prst="rect">
            <a:avLst/>
          </a:prstGeom>
          <a:solidFill>
            <a:srgbClr val="E07B3C"/>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320040"/>
            <a:ext cx="365760" cy="365760"/>
          </a:xfrm>
          <a:prstGeom prst="rect">
            <a:avLst/>
          </a:prstGeom>
        </p:spPr>
      </p:pic>
      <p:sp>
        <p:nvSpPr>
          <p:cNvPr id="3" name="Text 0"/>
          <p:cNvSpPr/>
          <p:nvPr/>
        </p:nvSpPr>
        <p:spPr>
          <a:xfrm>
            <a:off x="914400" y="274320"/>
            <a:ext cx="7315200" cy="502920"/>
          </a:xfrm>
          <a:prstGeom prst="rect">
            <a:avLst/>
          </a:prstGeom>
          <a:noFill/>
          <a:ln/>
        </p:spPr>
        <p:txBody>
          <a:bodyPr wrap="square" lIns="0" tIns="0" rIns="0" bIns="0" rtlCol="0" anchor="ctr"/>
          <a:lstStyle/>
          <a:p>
            <a:pPr marL="0" indent="0" algn="l">
              <a:buNone/>
            </a:pPr>
            <a:r>
              <a:rPr lang="en-US" sz="3200" b="1" dirty="0">
                <a:solidFill>
                  <a:srgbClr val="FFFFFF"/>
                </a:solidFill>
                <a:latin typeface="Arial Black" pitchFamily="34" charset="0"/>
                <a:ea typeface="Arial Black" pitchFamily="34" charset="-122"/>
                <a:cs typeface="Arial Black" pitchFamily="34" charset="-120"/>
              </a:rPr>
              <a:t>Critical Requirements</a:t>
            </a:r>
            <a:endParaRPr lang="en-US" sz="3200" dirty="0"/>
          </a:p>
        </p:txBody>
      </p:sp>
      <p:sp>
        <p:nvSpPr>
          <p:cNvPr id="4" name="Shape 1"/>
          <p:cNvSpPr/>
          <p:nvPr/>
        </p:nvSpPr>
        <p:spPr>
          <a:xfrm>
            <a:off x="457200" y="1051560"/>
            <a:ext cx="8229600" cy="10515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pic>
        <p:nvPicPr>
          <p:cNvPr id="5" name="Image 1" descr="preencoded.png"/>
          <p:cNvPicPr>
            <a:picLocks noChangeAspect="1"/>
          </p:cNvPicPr>
          <p:nvPr/>
        </p:nvPicPr>
        <p:blipFill>
          <a:blip r:embed="rId4"/>
          <a:stretch>
            <a:fillRect/>
          </a:stretch>
        </p:blipFill>
        <p:spPr>
          <a:xfrm>
            <a:off x="685800" y="1234440"/>
            <a:ext cx="365760" cy="365760"/>
          </a:xfrm>
          <a:prstGeom prst="rect">
            <a:avLst/>
          </a:prstGeom>
        </p:spPr>
      </p:pic>
      <p:sp>
        <p:nvSpPr>
          <p:cNvPr id="6" name="Text 2"/>
          <p:cNvSpPr/>
          <p:nvPr/>
        </p:nvSpPr>
        <p:spPr>
          <a:xfrm>
            <a:off x="1188720" y="1097280"/>
            <a:ext cx="6858000" cy="365760"/>
          </a:xfrm>
          <a:prstGeom prst="rect">
            <a:avLst/>
          </a:prstGeom>
          <a:noFill/>
          <a:ln/>
        </p:spPr>
        <p:txBody>
          <a:bodyPr wrap="square" lIns="0" tIns="0" rIns="0" bIns="0" rtlCol="0" anchor="ctr"/>
          <a:lstStyle/>
          <a:p>
            <a:pPr marL="0" indent="0">
              <a:buNone/>
            </a:pPr>
            <a:r>
              <a:rPr lang="en-US" sz="1800" b="1" dirty="0">
                <a:solidFill>
                  <a:srgbClr val="2CB1A4"/>
                </a:solidFill>
                <a:latin typeface="Calibri" pitchFamily="34" charset="0"/>
                <a:ea typeface="Calibri" pitchFamily="34" charset="-122"/>
                <a:cs typeface="Calibri" pitchFamily="34" charset="-120"/>
              </a:rPr>
              <a:t>Check-in 2 of 3 Days</a:t>
            </a:r>
            <a:endParaRPr lang="en-US" sz="1800" dirty="0"/>
          </a:p>
        </p:txBody>
      </p:sp>
      <p:sp>
        <p:nvSpPr>
          <p:cNvPr id="7" name="Text 3"/>
          <p:cNvSpPr/>
          <p:nvPr/>
        </p:nvSpPr>
        <p:spPr>
          <a:xfrm>
            <a:off x="1188720" y="1508760"/>
            <a:ext cx="7132320" cy="457200"/>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You must check in on at least 2 of the 3 hackathon days to be eligible for prizes.</a:t>
            </a:r>
            <a:endParaRPr lang="en-US" sz="1400" dirty="0"/>
          </a:p>
        </p:txBody>
      </p:sp>
      <p:sp>
        <p:nvSpPr>
          <p:cNvPr id="8" name="Shape 4"/>
          <p:cNvSpPr/>
          <p:nvPr/>
        </p:nvSpPr>
        <p:spPr>
          <a:xfrm>
            <a:off x="457200" y="2331720"/>
            <a:ext cx="8229600" cy="15087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pic>
        <p:nvPicPr>
          <p:cNvPr id="9" name="Image 2" descr="preencoded.png"/>
          <p:cNvPicPr>
            <a:picLocks noChangeAspect="1"/>
          </p:cNvPicPr>
          <p:nvPr/>
        </p:nvPicPr>
        <p:blipFill>
          <a:blip r:embed="rId5"/>
          <a:stretch>
            <a:fillRect/>
          </a:stretch>
        </p:blipFill>
        <p:spPr>
          <a:xfrm>
            <a:off x="685800" y="2514600"/>
            <a:ext cx="365760" cy="365760"/>
          </a:xfrm>
          <a:prstGeom prst="rect">
            <a:avLst/>
          </a:prstGeom>
        </p:spPr>
      </p:pic>
      <p:sp>
        <p:nvSpPr>
          <p:cNvPr id="10" name="Text 5"/>
          <p:cNvSpPr/>
          <p:nvPr/>
        </p:nvSpPr>
        <p:spPr>
          <a:xfrm>
            <a:off x="1188720" y="2377440"/>
            <a:ext cx="7315200" cy="365760"/>
          </a:xfrm>
          <a:prstGeom prst="rect">
            <a:avLst/>
          </a:prstGeom>
          <a:noFill/>
          <a:ln/>
        </p:spPr>
        <p:txBody>
          <a:bodyPr wrap="square" lIns="0" tIns="0" rIns="0" bIns="0" rtlCol="0" anchor="ctr"/>
          <a:lstStyle/>
          <a:p>
            <a:pPr marL="0" indent="0">
              <a:buNone/>
            </a:pPr>
            <a:r>
              <a:rPr lang="en-US" sz="1800" b="1" dirty="0">
                <a:solidFill>
                  <a:srgbClr val="E05D5D"/>
                </a:solidFill>
                <a:latin typeface="Calibri" pitchFamily="34" charset="0"/>
                <a:ea typeface="Calibri" pitchFamily="34" charset="-122"/>
                <a:cs typeface="Calibri" pitchFamily="34" charset="-120"/>
              </a:rPr>
              <a:t>Submission Requirements — Due Sunday 2:00 PM (HARD DEADLINE)</a:t>
            </a:r>
            <a:endParaRPr lang="en-US" sz="1800" dirty="0"/>
          </a:p>
        </p:txBody>
      </p:sp>
      <p:sp>
        <p:nvSpPr>
          <p:cNvPr id="11" name="Text 6"/>
          <p:cNvSpPr/>
          <p:nvPr/>
        </p:nvSpPr>
        <p:spPr>
          <a:xfrm>
            <a:off x="1188720" y="2834640"/>
            <a:ext cx="7132320" cy="914400"/>
          </a:xfrm>
          <a:prstGeom prst="rect">
            <a:avLst/>
          </a:prstGeom>
          <a:noFill/>
          <a:ln/>
        </p:spPr>
        <p:txBody>
          <a:bodyPr wrap="square" lIns="0" tIns="0" rIns="0" bIns="0" rtlCol="0" anchor="ctr"/>
          <a:lstStyle/>
          <a:p>
            <a:pPr marL="342900" indent="-342900">
              <a:spcAft>
                <a:spcPts val="400"/>
              </a:spcAft>
              <a:buSzPct val="100000"/>
              <a:buChar char="•"/>
            </a:pPr>
            <a:r>
              <a:rPr lang="en-US" sz="1400" b="1" dirty="0">
                <a:solidFill>
                  <a:srgbClr val="C8C8C8"/>
                </a:solidFill>
                <a:latin typeface="Calibri" pitchFamily="34" charset="0"/>
                <a:ea typeface="Calibri" pitchFamily="34" charset="-122"/>
                <a:cs typeface="Calibri" pitchFamily="34" charset="-120"/>
              </a:rPr>
              <a:t>YouTube Video</a:t>
            </a:r>
            <a:endParaRPr lang="en-US" sz="1400" dirty="0"/>
          </a:p>
          <a:p>
            <a:pPr marL="342900" indent="-342900">
              <a:spcAft>
                <a:spcPts val="400"/>
              </a:spcAft>
              <a:buSzPct val="100000"/>
              <a:buChar char="•"/>
            </a:pPr>
            <a:r>
              <a:rPr lang="en-US" sz="1400" b="1" dirty="0">
                <a:solidFill>
                  <a:srgbClr val="C8C8C8"/>
                </a:solidFill>
                <a:latin typeface="Calibri" pitchFamily="34" charset="0"/>
                <a:ea typeface="Calibri" pitchFamily="34" charset="-122"/>
                <a:cs typeface="Calibri" pitchFamily="34" charset="-120"/>
              </a:rPr>
              <a:t>Public GitHub Repository</a:t>
            </a:r>
            <a:endParaRPr lang="en-US" sz="1400" dirty="0"/>
          </a:p>
          <a:p>
            <a:pPr marL="342900" indent="-342900">
              <a:spcAft>
                <a:spcPts val="400"/>
              </a:spcAft>
              <a:buSzPct val="100000"/>
              <a:buChar char="•"/>
            </a:pPr>
            <a:r>
              <a:rPr lang="en-US" sz="1400" b="1" dirty="0">
                <a:solidFill>
                  <a:srgbClr val="C8C8C8"/>
                </a:solidFill>
                <a:latin typeface="Calibri" pitchFamily="34" charset="0"/>
                <a:ea typeface="Calibri" pitchFamily="34" charset="-122"/>
                <a:cs typeface="Calibri" pitchFamily="34" charset="-120"/>
              </a:rPr>
              <a:t>Deployed Link</a:t>
            </a:r>
            <a:endParaRPr lang="en-US" sz="1400" dirty="0"/>
          </a:p>
          <a:p>
            <a:pPr marL="342900" indent="-342900">
              <a:spcAft>
                <a:spcPts val="400"/>
              </a:spcAft>
              <a:buSzPct val="100000"/>
              <a:buChar char="•"/>
            </a:pPr>
            <a:r>
              <a:rPr lang="en-US" sz="1400" i="1" dirty="0">
                <a:solidFill>
                  <a:srgbClr val="C8C8C8"/>
                </a:solidFill>
                <a:latin typeface="Calibri" pitchFamily="34" charset="0"/>
                <a:ea typeface="Calibri" pitchFamily="34" charset="-122"/>
                <a:cs typeface="Calibri" pitchFamily="34" charset="-120"/>
              </a:rPr>
              <a:t>(if using Vercel or similar, you must give us permissions to view)</a:t>
            </a:r>
            <a:endParaRPr lang="en-US" sz="1400" dirty="0"/>
          </a:p>
        </p:txBody>
      </p:sp>
      <p:sp>
        <p:nvSpPr>
          <p:cNvPr id="12" name="Shape 7"/>
          <p:cNvSpPr/>
          <p:nvPr/>
        </p:nvSpPr>
        <p:spPr>
          <a:xfrm>
            <a:off x="457200" y="4069080"/>
            <a:ext cx="8229600" cy="777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pic>
        <p:nvPicPr>
          <p:cNvPr id="13" name="Image 3" descr="preencoded.png"/>
          <p:cNvPicPr>
            <a:picLocks noChangeAspect="1"/>
          </p:cNvPicPr>
          <p:nvPr/>
        </p:nvPicPr>
        <p:blipFill>
          <a:blip r:embed="rId6"/>
          <a:stretch>
            <a:fillRect/>
          </a:stretch>
        </p:blipFill>
        <p:spPr>
          <a:xfrm>
            <a:off x="685800" y="4206240"/>
            <a:ext cx="365760" cy="365760"/>
          </a:xfrm>
          <a:prstGeom prst="rect">
            <a:avLst/>
          </a:prstGeom>
        </p:spPr>
      </p:pic>
      <p:sp>
        <p:nvSpPr>
          <p:cNvPr id="14" name="Text 8"/>
          <p:cNvSpPr/>
          <p:nvPr/>
        </p:nvSpPr>
        <p:spPr>
          <a:xfrm>
            <a:off x="1188720" y="4114800"/>
            <a:ext cx="6858000" cy="365760"/>
          </a:xfrm>
          <a:prstGeom prst="rect">
            <a:avLst/>
          </a:prstGeom>
          <a:noFill/>
          <a:ln/>
        </p:spPr>
        <p:txBody>
          <a:bodyPr wrap="square" lIns="0" tIns="0" rIns="0" bIns="0" rtlCol="0" anchor="ctr"/>
          <a:lstStyle/>
          <a:p>
            <a:pPr marL="0" indent="0">
              <a:buNone/>
            </a:pPr>
            <a:r>
              <a:rPr lang="en-US" sz="1800" b="1" dirty="0">
                <a:solidFill>
                  <a:srgbClr val="9B72CF"/>
                </a:solidFill>
                <a:latin typeface="Calibri" pitchFamily="34" charset="0"/>
                <a:ea typeface="Calibri" pitchFamily="34" charset="-122"/>
                <a:cs typeface="Calibri" pitchFamily="34" charset="-120"/>
              </a:rPr>
              <a:t>Use Claude Tooling</a:t>
            </a:r>
            <a:endParaRPr lang="en-US" sz="1800" dirty="0"/>
          </a:p>
        </p:txBody>
      </p:sp>
      <p:sp>
        <p:nvSpPr>
          <p:cNvPr id="15" name="Text 9"/>
          <p:cNvSpPr/>
          <p:nvPr/>
        </p:nvSpPr>
        <p:spPr>
          <a:xfrm>
            <a:off x="1188720" y="4480560"/>
            <a:ext cx="7132320" cy="320040"/>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Projects must incorporate Claude / Anthropic tools in a meaningful way.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3" name="Text 0"/>
          <p:cNvSpPr/>
          <p:nvPr/>
        </p:nvSpPr>
        <p:spPr>
          <a:xfrm>
            <a:off x="914400" y="228600"/>
            <a:ext cx="7315200" cy="502920"/>
          </a:xfrm>
          <a:prstGeom prst="rect">
            <a:avLst/>
          </a:prstGeom>
          <a:noFill/>
          <a:ln/>
        </p:spPr>
        <p:txBody>
          <a:bodyPr wrap="square" lIns="0" tIns="0" rIns="0" bIns="0" rtlCol="0" anchor="ctr"/>
          <a:lstStyle/>
          <a:p>
            <a:pPr marL="0" indent="0" algn="l">
              <a:buNone/>
            </a:pPr>
            <a:r>
              <a:rPr lang="en-US" sz="3200" b="1" dirty="0">
                <a:solidFill>
                  <a:srgbClr val="FFFFFF"/>
                </a:solidFill>
                <a:latin typeface="Arial Black" pitchFamily="34" charset="0"/>
                <a:ea typeface="Arial Black" pitchFamily="34" charset="-122"/>
                <a:cs typeface="Arial Black" pitchFamily="34" charset="-120"/>
              </a:rPr>
              <a:t>Our Sponsors</a:t>
            </a:r>
            <a:endParaRPr lang="en-US" sz="3200" dirty="0"/>
          </a:p>
        </p:txBody>
      </p:sp>
      <p:sp>
        <p:nvSpPr>
          <p:cNvPr id="4" name="Shape 1"/>
          <p:cNvSpPr/>
          <p:nvPr/>
        </p:nvSpPr>
        <p:spPr>
          <a:xfrm>
            <a:off x="544068" y="96012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5" name="Shape 2"/>
          <p:cNvSpPr/>
          <p:nvPr/>
        </p:nvSpPr>
        <p:spPr>
          <a:xfrm>
            <a:off x="544068" y="960120"/>
            <a:ext cx="1828800" cy="36576"/>
          </a:xfrm>
          <a:prstGeom prst="rect">
            <a:avLst/>
          </a:prstGeom>
          <a:solidFill>
            <a:srgbClr val="2CB1A4"/>
          </a:solidFill>
          <a:ln/>
        </p:spPr>
        <p:txBody>
          <a:bodyPr/>
          <a:lstStyle/>
          <a:p>
            <a:endParaRPr lang="en-US"/>
          </a:p>
        </p:txBody>
      </p:sp>
      <p:sp>
        <p:nvSpPr>
          <p:cNvPr id="6" name="Text 3"/>
          <p:cNvSpPr/>
          <p:nvPr/>
        </p:nvSpPr>
        <p:spPr>
          <a:xfrm>
            <a:off x="544068" y="109728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Serpico AI</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Learning Center</a:t>
            </a:r>
            <a:endParaRPr lang="en-US" sz="1300" dirty="0"/>
          </a:p>
        </p:txBody>
      </p:sp>
      <p:sp>
        <p:nvSpPr>
          <p:cNvPr id="7" name="Text 4"/>
          <p:cNvSpPr/>
          <p:nvPr/>
        </p:nvSpPr>
        <p:spPr>
          <a:xfrm>
            <a:off x="635508" y="169164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Hiring AI Operations Specialist (part-time)</a:t>
            </a:r>
            <a:endParaRPr lang="en-US" sz="900" dirty="0"/>
          </a:p>
        </p:txBody>
      </p:sp>
      <p:sp>
        <p:nvSpPr>
          <p:cNvPr id="8" name="Shape 5"/>
          <p:cNvSpPr/>
          <p:nvPr/>
        </p:nvSpPr>
        <p:spPr>
          <a:xfrm>
            <a:off x="2619756" y="96012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9" name="Shape 6"/>
          <p:cNvSpPr/>
          <p:nvPr/>
        </p:nvSpPr>
        <p:spPr>
          <a:xfrm>
            <a:off x="2619756" y="960120"/>
            <a:ext cx="1828800" cy="36576"/>
          </a:xfrm>
          <a:prstGeom prst="rect">
            <a:avLst/>
          </a:prstGeom>
          <a:solidFill>
            <a:srgbClr val="4A90D9"/>
          </a:solidFill>
          <a:ln/>
        </p:spPr>
        <p:txBody>
          <a:bodyPr/>
          <a:lstStyle/>
          <a:p>
            <a:endParaRPr lang="en-US"/>
          </a:p>
        </p:txBody>
      </p:sp>
      <p:sp>
        <p:nvSpPr>
          <p:cNvPr id="10" name="Text 7"/>
          <p:cNvSpPr/>
          <p:nvPr/>
        </p:nvSpPr>
        <p:spPr>
          <a:xfrm>
            <a:off x="2619756" y="109728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Airpost</a:t>
            </a:r>
            <a:endParaRPr lang="en-US" sz="1300" dirty="0"/>
          </a:p>
        </p:txBody>
      </p:sp>
      <p:sp>
        <p:nvSpPr>
          <p:cNvPr id="11" name="Text 8"/>
          <p:cNvSpPr/>
          <p:nvPr/>
        </p:nvSpPr>
        <p:spPr>
          <a:xfrm>
            <a:off x="2711196" y="169164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Hiring Full-Time AI SDE — technical &amp; non-technical welcome</a:t>
            </a:r>
            <a:endParaRPr lang="en-US" sz="900" dirty="0"/>
          </a:p>
        </p:txBody>
      </p:sp>
      <p:sp>
        <p:nvSpPr>
          <p:cNvPr id="12" name="Shape 9"/>
          <p:cNvSpPr/>
          <p:nvPr/>
        </p:nvSpPr>
        <p:spPr>
          <a:xfrm>
            <a:off x="4695444" y="96012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3" name="Shape 10"/>
          <p:cNvSpPr/>
          <p:nvPr/>
        </p:nvSpPr>
        <p:spPr>
          <a:xfrm>
            <a:off x="4695444" y="960120"/>
            <a:ext cx="1828800" cy="36576"/>
          </a:xfrm>
          <a:prstGeom prst="rect">
            <a:avLst/>
          </a:prstGeom>
          <a:solidFill>
            <a:srgbClr val="E07B3C"/>
          </a:solidFill>
          <a:ln/>
        </p:spPr>
        <p:txBody>
          <a:bodyPr/>
          <a:lstStyle/>
          <a:p>
            <a:endParaRPr lang="en-US"/>
          </a:p>
        </p:txBody>
      </p:sp>
      <p:sp>
        <p:nvSpPr>
          <p:cNvPr id="14" name="Text 11"/>
          <p:cNvSpPr/>
          <p:nvPr/>
        </p:nvSpPr>
        <p:spPr>
          <a:xfrm>
            <a:off x="4695444" y="109728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InsForge</a:t>
            </a:r>
            <a:endParaRPr lang="en-US" sz="1300" dirty="0"/>
          </a:p>
        </p:txBody>
      </p:sp>
      <p:sp>
        <p:nvSpPr>
          <p:cNvPr id="15" name="Text 12"/>
          <p:cNvSpPr/>
          <p:nvPr/>
        </p:nvSpPr>
        <p:spPr>
          <a:xfrm>
            <a:off x="4786884" y="169164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Free API credits for participants (YC '26)</a:t>
            </a:r>
            <a:endParaRPr lang="en-US" sz="900" dirty="0"/>
          </a:p>
        </p:txBody>
      </p:sp>
      <p:sp>
        <p:nvSpPr>
          <p:cNvPr id="16" name="Shape 13"/>
          <p:cNvSpPr/>
          <p:nvPr/>
        </p:nvSpPr>
        <p:spPr>
          <a:xfrm>
            <a:off x="6771132" y="96012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7" name="Shape 14"/>
          <p:cNvSpPr/>
          <p:nvPr/>
        </p:nvSpPr>
        <p:spPr>
          <a:xfrm>
            <a:off x="6771132" y="960120"/>
            <a:ext cx="1828800" cy="36576"/>
          </a:xfrm>
          <a:prstGeom prst="rect">
            <a:avLst/>
          </a:prstGeom>
          <a:solidFill>
            <a:srgbClr val="9B72CF"/>
          </a:solidFill>
          <a:ln/>
        </p:spPr>
        <p:txBody>
          <a:bodyPr/>
          <a:lstStyle/>
          <a:p>
            <a:endParaRPr lang="en-US"/>
          </a:p>
        </p:txBody>
      </p:sp>
      <p:sp>
        <p:nvSpPr>
          <p:cNvPr id="18" name="Text 15"/>
          <p:cNvSpPr/>
          <p:nvPr/>
        </p:nvSpPr>
        <p:spPr>
          <a:xfrm>
            <a:off x="6771132" y="109728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Automation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Interns</a:t>
            </a:r>
            <a:endParaRPr lang="en-US" sz="1300" dirty="0"/>
          </a:p>
        </p:txBody>
      </p:sp>
      <p:sp>
        <p:nvSpPr>
          <p:cNvPr id="19" name="Text 16"/>
          <p:cNvSpPr/>
          <p:nvPr/>
        </p:nvSpPr>
        <p:spPr>
          <a:xfrm>
            <a:off x="6862572" y="169164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Hiring AI SDE &amp; Operations Interns</a:t>
            </a:r>
            <a:endParaRPr lang="en-US" sz="900" dirty="0"/>
          </a:p>
        </p:txBody>
      </p:sp>
      <p:sp>
        <p:nvSpPr>
          <p:cNvPr id="20" name="Shape 17"/>
          <p:cNvSpPr/>
          <p:nvPr/>
        </p:nvSpPr>
        <p:spPr>
          <a:xfrm>
            <a:off x="544068" y="251460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21" name="Shape 18"/>
          <p:cNvSpPr/>
          <p:nvPr/>
        </p:nvSpPr>
        <p:spPr>
          <a:xfrm>
            <a:off x="544068" y="2514600"/>
            <a:ext cx="1828800" cy="36576"/>
          </a:xfrm>
          <a:prstGeom prst="rect">
            <a:avLst/>
          </a:prstGeom>
          <a:solidFill>
            <a:srgbClr val="E05D5D"/>
          </a:solidFill>
          <a:ln/>
        </p:spPr>
        <p:txBody>
          <a:bodyPr/>
          <a:lstStyle/>
          <a:p>
            <a:endParaRPr lang="en-US"/>
          </a:p>
        </p:txBody>
      </p:sp>
      <p:sp>
        <p:nvSpPr>
          <p:cNvPr id="22" name="Text 19"/>
          <p:cNvSpPr/>
          <p:nvPr/>
        </p:nvSpPr>
        <p:spPr>
          <a:xfrm>
            <a:off x="544068" y="265176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Red Bull</a:t>
            </a:r>
            <a:endParaRPr lang="en-US" sz="1300" dirty="0"/>
          </a:p>
        </p:txBody>
      </p:sp>
      <p:sp>
        <p:nvSpPr>
          <p:cNvPr id="23" name="Text 20"/>
          <p:cNvSpPr/>
          <p:nvPr/>
        </p:nvSpPr>
        <p:spPr>
          <a:xfrm>
            <a:off x="635508" y="324612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Free Red Bull!</a:t>
            </a:r>
            <a:endParaRPr lang="en-US" sz="900" dirty="0"/>
          </a:p>
        </p:txBody>
      </p:sp>
      <p:sp>
        <p:nvSpPr>
          <p:cNvPr id="24" name="Shape 21"/>
          <p:cNvSpPr/>
          <p:nvPr/>
        </p:nvSpPr>
        <p:spPr>
          <a:xfrm>
            <a:off x="2619756" y="251460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25" name="Shape 22"/>
          <p:cNvSpPr/>
          <p:nvPr/>
        </p:nvSpPr>
        <p:spPr>
          <a:xfrm>
            <a:off x="2619756" y="2514600"/>
            <a:ext cx="1828800" cy="36576"/>
          </a:xfrm>
          <a:prstGeom prst="rect">
            <a:avLst/>
          </a:prstGeom>
          <a:solidFill>
            <a:srgbClr val="4CAF50"/>
          </a:solidFill>
          <a:ln/>
        </p:spPr>
        <p:txBody>
          <a:bodyPr/>
          <a:lstStyle/>
          <a:p>
            <a:endParaRPr lang="en-US"/>
          </a:p>
        </p:txBody>
      </p:sp>
      <p:sp>
        <p:nvSpPr>
          <p:cNvPr id="26" name="Text 23"/>
          <p:cNvSpPr/>
          <p:nvPr/>
        </p:nvSpPr>
        <p:spPr>
          <a:xfrm>
            <a:off x="2619756" y="265176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Tamagrow</a:t>
            </a:r>
            <a:endParaRPr lang="en-US" sz="1300" dirty="0"/>
          </a:p>
        </p:txBody>
      </p:sp>
      <p:sp>
        <p:nvSpPr>
          <p:cNvPr id="27" name="Text 24"/>
          <p:cNvSpPr/>
          <p:nvPr/>
        </p:nvSpPr>
        <p:spPr>
          <a:xfrm>
            <a:off x="2711196" y="324612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Turn GitHub commits into social posts</a:t>
            </a:r>
            <a:endParaRPr lang="en-US" sz="900" dirty="0"/>
          </a:p>
        </p:txBody>
      </p:sp>
      <p:sp>
        <p:nvSpPr>
          <p:cNvPr id="28" name="Shape 25"/>
          <p:cNvSpPr/>
          <p:nvPr/>
        </p:nvSpPr>
        <p:spPr>
          <a:xfrm>
            <a:off x="4695444" y="251460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29" name="Shape 26"/>
          <p:cNvSpPr/>
          <p:nvPr/>
        </p:nvSpPr>
        <p:spPr>
          <a:xfrm>
            <a:off x="4695444" y="2514600"/>
            <a:ext cx="1828800" cy="36576"/>
          </a:xfrm>
          <a:prstGeom prst="rect">
            <a:avLst/>
          </a:prstGeom>
          <a:solidFill>
            <a:srgbClr val="2CB1A4"/>
          </a:solidFill>
          <a:ln/>
        </p:spPr>
        <p:txBody>
          <a:bodyPr/>
          <a:lstStyle/>
          <a:p>
            <a:endParaRPr lang="en-US"/>
          </a:p>
        </p:txBody>
      </p:sp>
      <p:sp>
        <p:nvSpPr>
          <p:cNvPr id="30" name="Text 27"/>
          <p:cNvSpPr/>
          <p:nvPr/>
        </p:nvSpPr>
        <p:spPr>
          <a:xfrm>
            <a:off x="4695444" y="265176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TinyFish</a:t>
            </a:r>
            <a:endParaRPr lang="en-US" sz="1300" dirty="0"/>
          </a:p>
        </p:txBody>
      </p:sp>
      <p:sp>
        <p:nvSpPr>
          <p:cNvPr id="31" name="Text 28"/>
          <p:cNvSpPr/>
          <p:nvPr/>
        </p:nvSpPr>
        <p:spPr>
          <a:xfrm>
            <a:off x="4786884" y="324612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Free suite credits, prizes, accelerator golden tickets</a:t>
            </a:r>
            <a:endParaRPr lang="en-US" sz="900" dirty="0"/>
          </a:p>
        </p:txBody>
      </p:sp>
      <p:sp>
        <p:nvSpPr>
          <p:cNvPr id="32" name="Shape 29"/>
          <p:cNvSpPr/>
          <p:nvPr/>
        </p:nvSpPr>
        <p:spPr>
          <a:xfrm>
            <a:off x="6771132" y="2514600"/>
            <a:ext cx="18288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33" name="Shape 30"/>
          <p:cNvSpPr/>
          <p:nvPr/>
        </p:nvSpPr>
        <p:spPr>
          <a:xfrm>
            <a:off x="6771132" y="2514600"/>
            <a:ext cx="1828800" cy="36576"/>
          </a:xfrm>
          <a:prstGeom prst="rect">
            <a:avLst/>
          </a:prstGeom>
          <a:solidFill>
            <a:srgbClr val="F5C842"/>
          </a:solidFill>
          <a:ln/>
        </p:spPr>
        <p:txBody>
          <a:bodyPr/>
          <a:lstStyle/>
          <a:p>
            <a:endParaRPr lang="en-US"/>
          </a:p>
        </p:txBody>
      </p:sp>
      <p:sp>
        <p:nvSpPr>
          <p:cNvPr id="34" name="Text 31"/>
          <p:cNvSpPr/>
          <p:nvPr/>
        </p:nvSpPr>
        <p:spPr>
          <a:xfrm>
            <a:off x="6771132" y="2651760"/>
            <a:ext cx="182880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Ada</a:t>
            </a:r>
            <a:endParaRPr lang="en-US" sz="1300" dirty="0"/>
          </a:p>
        </p:txBody>
      </p:sp>
      <p:sp>
        <p:nvSpPr>
          <p:cNvPr id="35" name="Text 32"/>
          <p:cNvSpPr/>
          <p:nvPr/>
        </p:nvSpPr>
        <p:spPr>
          <a:xfrm>
            <a:off x="6862572" y="3246120"/>
            <a:ext cx="1645920" cy="457200"/>
          </a:xfrm>
          <a:prstGeom prst="rect">
            <a:avLst/>
          </a:prstGeom>
          <a:noFill/>
          <a:ln/>
        </p:spPr>
        <p:txBody>
          <a:bodyPr wrap="square" lIns="0" tIns="0" rIns="0" bIns="0" rtlCol="0" anchor="t"/>
          <a:lstStyle/>
          <a:p>
            <a:pPr marL="0" indent="0" algn="ctr">
              <a:buNone/>
            </a:pPr>
            <a:r>
              <a:rPr lang="en-US" sz="900" dirty="0">
                <a:solidFill>
                  <a:srgbClr val="999999"/>
                </a:solidFill>
                <a:latin typeface="Calibri" pitchFamily="34" charset="0"/>
                <a:ea typeface="Calibri" pitchFamily="34" charset="-122"/>
                <a:cs typeface="Calibri" pitchFamily="34" charset="-120"/>
              </a:rPr>
              <a:t>Hiring SDE Interns</a:t>
            </a:r>
            <a:endParaRPr lang="en-US" sz="900" dirty="0"/>
          </a:p>
        </p:txBody>
      </p:sp>
      <p:sp>
        <p:nvSpPr>
          <p:cNvPr id="36" name="Text 33"/>
          <p:cNvSpPr/>
          <p:nvPr/>
        </p:nvSpPr>
        <p:spPr>
          <a:xfrm>
            <a:off x="457200" y="4434840"/>
            <a:ext cx="8229600" cy="365760"/>
          </a:xfrm>
          <a:prstGeom prst="rect">
            <a:avLst/>
          </a:prstGeom>
          <a:noFill/>
          <a:ln/>
        </p:spPr>
        <p:txBody>
          <a:bodyPr wrap="square" lIns="0" tIns="0" rIns="0" bIns="0" rtlCol="0" anchor="ctr"/>
          <a:lstStyle/>
          <a:p>
            <a:pPr marL="0" indent="0" algn="ctr">
              <a:buNone/>
            </a:pPr>
            <a:r>
              <a:rPr lang="en-US" sz="1300" i="1" dirty="0">
                <a:solidFill>
                  <a:srgbClr val="999999"/>
                </a:solidFill>
                <a:latin typeface="Calibri" pitchFamily="34" charset="0"/>
                <a:ea typeface="Calibri" pitchFamily="34" charset="-122"/>
                <a:cs typeface="Calibri" pitchFamily="34" charset="-120"/>
              </a:rPr>
              <a:t>Thank you to all our sponsors for making HackASU possible!</a:t>
            </a:r>
            <a:endParaRPr lang="en-US" sz="1300" dirty="0"/>
          </a:p>
        </p:txBody>
      </p:sp>
      <p:sp>
        <p:nvSpPr>
          <p:cNvPr id="37" name="Shape 34"/>
          <p:cNvSpPr/>
          <p:nvPr/>
        </p:nvSpPr>
        <p:spPr>
          <a:xfrm>
            <a:off x="0" y="4709160"/>
            <a:ext cx="9144000" cy="434340"/>
          </a:xfrm>
          <a:prstGeom prst="rect">
            <a:avLst/>
          </a:prstGeom>
          <a:solidFill>
            <a:srgbClr val="1E1E1E"/>
          </a:solidFill>
          <a:ln/>
        </p:spPr>
        <p:txBody>
          <a:bodyPr/>
          <a:lstStyle/>
          <a:p>
            <a:endParaRPr lang="en-US"/>
          </a:p>
        </p:txBody>
      </p:sp>
      <p:sp>
        <p:nvSpPr>
          <p:cNvPr id="38" name="Text 35"/>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411480" y="228600"/>
            <a:ext cx="457200" cy="457200"/>
          </a:xfrm>
          <a:prstGeom prst="ellipse">
            <a:avLst/>
          </a:prstGeom>
          <a:solidFill>
            <a:srgbClr val="E05D5D"/>
          </a:solidFill>
          <a:ln/>
        </p:spPr>
        <p:txBody>
          <a:bodyPr/>
          <a:lstStyle/>
          <a:p>
            <a:endParaRPr lang="en-US"/>
          </a:p>
        </p:txBody>
      </p:sp>
      <p:sp>
        <p:nvSpPr>
          <p:cNvPr id="3" name="Text 1"/>
          <p:cNvSpPr/>
          <p:nvPr/>
        </p:nvSpPr>
        <p:spPr>
          <a:xfrm>
            <a:off x="411480" y="228600"/>
            <a:ext cx="457200" cy="457200"/>
          </a:xfrm>
          <a:prstGeom prst="rect">
            <a:avLst/>
          </a:prstGeom>
          <a:noFill/>
          <a:ln/>
        </p:spPr>
        <p:txBody>
          <a:bodyPr wrap="square" lIns="0" tIns="0" rIns="0" bIns="0" rtlCol="0" anchor="ctr"/>
          <a:lstStyle/>
          <a:p>
            <a:pPr marL="0" indent="0" algn="ctr">
              <a:buNone/>
            </a:pPr>
            <a:r>
              <a:rPr lang="en-US" sz="1600" b="1" dirty="0">
                <a:solidFill>
                  <a:srgbClr val="121212"/>
                </a:solidFill>
                <a:latin typeface="Arial Black" pitchFamily="34" charset="0"/>
                <a:ea typeface="Arial Black" pitchFamily="34" charset="-122"/>
                <a:cs typeface="Arial Black" pitchFamily="34" charset="-120"/>
              </a:rPr>
              <a:t>1a</a:t>
            </a:r>
            <a:endParaRPr lang="en-US" sz="1600" dirty="0"/>
          </a:p>
        </p:txBody>
      </p:sp>
      <p:sp>
        <p:nvSpPr>
          <p:cNvPr id="4" name="Text 2"/>
          <p:cNvSpPr/>
          <p:nvPr/>
        </p:nvSpPr>
        <p:spPr>
          <a:xfrm>
            <a:off x="1005840" y="228600"/>
            <a:ext cx="768096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Biology &amp; Physical Health</a:t>
            </a:r>
            <a:endParaRPr lang="en-US" sz="2800" dirty="0"/>
          </a:p>
        </p:txBody>
      </p:sp>
      <p:sp>
        <p:nvSpPr>
          <p:cNvPr id="5" name="Text 3"/>
          <p:cNvSpPr/>
          <p:nvPr/>
        </p:nvSpPr>
        <p:spPr>
          <a:xfrm>
            <a:off x="457200" y="822960"/>
            <a:ext cx="8229600" cy="411480"/>
          </a:xfrm>
          <a:prstGeom prst="rect">
            <a:avLst/>
          </a:prstGeom>
          <a:noFill/>
          <a:ln/>
        </p:spPr>
        <p:txBody>
          <a:bodyPr wrap="square" lIns="0" tIns="0" rIns="0" bIns="0" rtlCol="0" anchor="ctr"/>
          <a:lstStyle/>
          <a:p>
            <a:pPr marL="0" indent="0">
              <a:buNone/>
            </a:pPr>
            <a:r>
              <a:rPr lang="en-US" sz="1300" i="1" dirty="0">
                <a:solidFill>
                  <a:srgbClr val="E05D5D"/>
                </a:solidFill>
                <a:latin typeface="Calibri" pitchFamily="34" charset="0"/>
                <a:ea typeface="Calibri" pitchFamily="34" charset="-122"/>
                <a:cs typeface="Calibri" pitchFamily="34" charset="-120"/>
              </a:rPr>
              <a:t>How can you improve access to healthcare, accelerate diagnosis, or help people manage physical health?</a:t>
            </a:r>
            <a:endParaRPr lang="en-US" sz="1300" dirty="0"/>
          </a:p>
        </p:txBody>
      </p:sp>
      <p:sp>
        <p:nvSpPr>
          <p:cNvPr id="6" name="Shape 4"/>
          <p:cNvSpPr/>
          <p:nvPr/>
        </p:nvSpPr>
        <p:spPr>
          <a:xfrm>
            <a:off x="4572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457200" y="1371600"/>
            <a:ext cx="45720" cy="1920240"/>
          </a:xfrm>
          <a:prstGeom prst="rect">
            <a:avLst/>
          </a:prstGeom>
          <a:solidFill>
            <a:srgbClr val="E05D5D"/>
          </a:solidFill>
          <a:ln/>
        </p:spPr>
        <p:txBody>
          <a:bodyPr/>
          <a:lstStyle/>
          <a:p>
            <a:endParaRPr lang="en-US"/>
          </a:p>
        </p:txBody>
      </p:sp>
      <p:sp>
        <p:nvSpPr>
          <p:cNvPr id="8" name="Text 6"/>
          <p:cNvSpPr/>
          <p:nvPr/>
        </p:nvSpPr>
        <p:spPr>
          <a:xfrm>
            <a:off x="6858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9" name="Text 7"/>
          <p:cNvSpPr/>
          <p:nvPr/>
        </p:nvSpPr>
        <p:spPr>
          <a:xfrm>
            <a:off x="685800" y="1737360"/>
            <a:ext cx="3474720" cy="1463040"/>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Healthcare is expensive, inaccessible, and confusing. Medical knowledge that could help people is locked behind jargon and paywalls. Billions lack access to quality care, and even those with access struggle to navigate complex systems.</a:t>
            </a:r>
            <a:endParaRPr lang="en-US" sz="1100" dirty="0"/>
          </a:p>
        </p:txBody>
      </p:sp>
      <p:sp>
        <p:nvSpPr>
          <p:cNvPr id="10" name="Shape 8"/>
          <p:cNvSpPr/>
          <p:nvPr/>
        </p:nvSpPr>
        <p:spPr>
          <a:xfrm>
            <a:off x="48006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4800600" y="1371600"/>
            <a:ext cx="45720" cy="1920240"/>
          </a:xfrm>
          <a:prstGeom prst="rect">
            <a:avLst/>
          </a:prstGeom>
          <a:solidFill>
            <a:srgbClr val="E05D5D"/>
          </a:solidFill>
          <a:ln/>
        </p:spPr>
        <p:txBody>
          <a:bodyPr/>
          <a:lstStyle/>
          <a:p>
            <a:endParaRPr lang="en-US"/>
          </a:p>
        </p:txBody>
      </p:sp>
      <p:sp>
        <p:nvSpPr>
          <p:cNvPr id="12" name="Text 10"/>
          <p:cNvSpPr/>
          <p:nvPr/>
        </p:nvSpPr>
        <p:spPr>
          <a:xfrm>
            <a:off x="50292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Example Ideas</a:t>
            </a:r>
            <a:endParaRPr lang="en-US" sz="1600" dirty="0"/>
          </a:p>
        </p:txBody>
      </p:sp>
      <p:sp>
        <p:nvSpPr>
          <p:cNvPr id="13" name="Text 11"/>
          <p:cNvSpPr/>
          <p:nvPr/>
        </p:nvSpPr>
        <p:spPr>
          <a:xfrm>
            <a:off x="5029200" y="1737360"/>
            <a:ext cx="347472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Diagnostic aids for underserved clinics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Patient education platforms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Medication adherence tools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Symptom assessment and triage</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Health literacy for treatment decisions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Accessibility tools for navigating healthcare</a:t>
            </a:r>
            <a:endParaRPr lang="en-US" sz="1050" dirty="0"/>
          </a:p>
        </p:txBody>
      </p:sp>
      <p:sp>
        <p:nvSpPr>
          <p:cNvPr id="14" name="Shape 12"/>
          <p:cNvSpPr/>
          <p:nvPr/>
        </p:nvSpPr>
        <p:spPr>
          <a:xfrm>
            <a:off x="457200" y="3520440"/>
            <a:ext cx="8229600" cy="132588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5" name="Text 13"/>
          <p:cNvSpPr/>
          <p:nvPr/>
        </p:nvSpPr>
        <p:spPr>
          <a:xfrm>
            <a:off x="685800" y="3566160"/>
            <a:ext cx="7772400" cy="320040"/>
          </a:xfrm>
          <a:prstGeom prst="rect">
            <a:avLst/>
          </a:prstGeom>
          <a:noFill/>
          <a:ln/>
        </p:spPr>
        <p:txBody>
          <a:bodyPr wrap="square" lIns="0" tIns="0" rIns="0" bIns="0"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Ethical Considerations</a:t>
            </a:r>
            <a:endParaRPr lang="en-US" sz="1400" dirty="0"/>
          </a:p>
        </p:txBody>
      </p:sp>
      <p:sp>
        <p:nvSpPr>
          <p:cNvPr id="16" name="Text 14"/>
          <p:cNvSpPr/>
          <p:nvPr/>
        </p:nvSpPr>
        <p:spPr>
          <a:xfrm>
            <a:off x="685800" y="3886200"/>
            <a:ext cx="7772400" cy="91440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Medical accuracy — when should this hand off to a real professional?</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Privacy of deeply sensitive health data</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Bias in medical AI across different populations</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Transparency about limitations and when professional care is needed</a:t>
            </a:r>
            <a:endParaRPr lang="en-US" sz="1000" dirty="0"/>
          </a:p>
        </p:txBody>
      </p:sp>
      <p:sp>
        <p:nvSpPr>
          <p:cNvPr id="17" name="Shape 15"/>
          <p:cNvSpPr/>
          <p:nvPr/>
        </p:nvSpPr>
        <p:spPr>
          <a:xfrm>
            <a:off x="0" y="4709160"/>
            <a:ext cx="9144000" cy="434340"/>
          </a:xfrm>
          <a:prstGeom prst="rect">
            <a:avLst/>
          </a:prstGeom>
          <a:solidFill>
            <a:srgbClr val="1E1E1E"/>
          </a:solidFill>
          <a:ln/>
        </p:spPr>
        <p:txBody>
          <a:bodyPr/>
          <a:lstStyle/>
          <a:p>
            <a:endParaRPr lang="en-US"/>
          </a:p>
        </p:txBody>
      </p:sp>
      <p:sp>
        <p:nvSpPr>
          <p:cNvPr id="18" name="Text 16"/>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411480" y="228600"/>
            <a:ext cx="457200" cy="457200"/>
          </a:xfrm>
          <a:prstGeom prst="ellipse">
            <a:avLst/>
          </a:prstGeom>
          <a:solidFill>
            <a:srgbClr val="9B72CF"/>
          </a:solidFill>
          <a:ln/>
        </p:spPr>
        <p:txBody>
          <a:bodyPr/>
          <a:lstStyle/>
          <a:p>
            <a:endParaRPr lang="en-US"/>
          </a:p>
        </p:txBody>
      </p:sp>
      <p:sp>
        <p:nvSpPr>
          <p:cNvPr id="3" name="Text 1"/>
          <p:cNvSpPr/>
          <p:nvPr/>
        </p:nvSpPr>
        <p:spPr>
          <a:xfrm>
            <a:off x="411480" y="228600"/>
            <a:ext cx="457200" cy="457200"/>
          </a:xfrm>
          <a:prstGeom prst="rect">
            <a:avLst/>
          </a:prstGeom>
          <a:noFill/>
          <a:ln/>
        </p:spPr>
        <p:txBody>
          <a:bodyPr wrap="square" lIns="0" tIns="0" rIns="0" bIns="0" rtlCol="0" anchor="ctr"/>
          <a:lstStyle/>
          <a:p>
            <a:pPr marL="0" indent="0" algn="ctr">
              <a:buNone/>
            </a:pPr>
            <a:r>
              <a:rPr lang="en-US" sz="1600" b="1" dirty="0">
                <a:solidFill>
                  <a:srgbClr val="121212"/>
                </a:solidFill>
                <a:latin typeface="Arial Black" pitchFamily="34" charset="0"/>
                <a:ea typeface="Arial Black" pitchFamily="34" charset="-122"/>
                <a:cs typeface="Arial Black" pitchFamily="34" charset="-120"/>
              </a:rPr>
              <a:t>1b</a:t>
            </a:r>
            <a:endParaRPr lang="en-US" sz="1600" dirty="0"/>
          </a:p>
        </p:txBody>
      </p:sp>
      <p:sp>
        <p:nvSpPr>
          <p:cNvPr id="4" name="Text 2"/>
          <p:cNvSpPr/>
          <p:nvPr/>
        </p:nvSpPr>
        <p:spPr>
          <a:xfrm>
            <a:off x="1005840" y="228600"/>
            <a:ext cx="768096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Mental Health</a:t>
            </a:r>
            <a:endParaRPr lang="en-US" sz="2800" dirty="0"/>
          </a:p>
        </p:txBody>
      </p:sp>
      <p:sp>
        <p:nvSpPr>
          <p:cNvPr id="5" name="Text 3"/>
          <p:cNvSpPr/>
          <p:nvPr/>
        </p:nvSpPr>
        <p:spPr>
          <a:xfrm>
            <a:off x="457200" y="822960"/>
            <a:ext cx="8229600" cy="411480"/>
          </a:xfrm>
          <a:prstGeom prst="rect">
            <a:avLst/>
          </a:prstGeom>
          <a:noFill/>
          <a:ln/>
        </p:spPr>
        <p:txBody>
          <a:bodyPr wrap="square" lIns="0" tIns="0" rIns="0" bIns="0" rtlCol="0" anchor="ctr"/>
          <a:lstStyle/>
          <a:p>
            <a:pPr marL="0" indent="0">
              <a:buNone/>
            </a:pPr>
            <a:r>
              <a:rPr lang="en-US" sz="1300" i="1" dirty="0">
                <a:solidFill>
                  <a:srgbClr val="9B72CF"/>
                </a:solidFill>
                <a:latin typeface="Calibri" pitchFamily="34" charset="0"/>
                <a:ea typeface="Calibri" pitchFamily="34" charset="-122"/>
                <a:cs typeface="Calibri" pitchFamily="34" charset="-120"/>
              </a:rPr>
              <a:t>How can you expand access to mental health support or provide evidence-based therapeutic tools?</a:t>
            </a:r>
            <a:endParaRPr lang="en-US" sz="1300" dirty="0"/>
          </a:p>
        </p:txBody>
      </p:sp>
      <p:sp>
        <p:nvSpPr>
          <p:cNvPr id="6" name="Shape 4"/>
          <p:cNvSpPr/>
          <p:nvPr/>
        </p:nvSpPr>
        <p:spPr>
          <a:xfrm>
            <a:off x="4572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457200" y="1371600"/>
            <a:ext cx="45720" cy="1920240"/>
          </a:xfrm>
          <a:prstGeom prst="rect">
            <a:avLst/>
          </a:prstGeom>
          <a:solidFill>
            <a:srgbClr val="9B72CF"/>
          </a:solidFill>
          <a:ln/>
        </p:spPr>
        <p:txBody>
          <a:bodyPr/>
          <a:lstStyle/>
          <a:p>
            <a:endParaRPr lang="en-US"/>
          </a:p>
        </p:txBody>
      </p:sp>
      <p:sp>
        <p:nvSpPr>
          <p:cNvPr id="8" name="Text 6"/>
          <p:cNvSpPr/>
          <p:nvPr/>
        </p:nvSpPr>
        <p:spPr>
          <a:xfrm>
            <a:off x="6858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9" name="Text 7"/>
          <p:cNvSpPr/>
          <p:nvPr/>
        </p:nvSpPr>
        <p:spPr>
          <a:xfrm>
            <a:off x="685800" y="1737360"/>
            <a:ext cx="3474720" cy="1463040"/>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Mental health support is severely inadequate. There aren't enough therapists, stigma prevents help-seeking, quality care is gatekept by insurance and geography, and many people suffer without understanding what's happening to them.</a:t>
            </a:r>
            <a:endParaRPr lang="en-US" sz="1100" dirty="0"/>
          </a:p>
        </p:txBody>
      </p:sp>
      <p:sp>
        <p:nvSpPr>
          <p:cNvPr id="10" name="Shape 8"/>
          <p:cNvSpPr/>
          <p:nvPr/>
        </p:nvSpPr>
        <p:spPr>
          <a:xfrm>
            <a:off x="48006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4800600" y="1371600"/>
            <a:ext cx="45720" cy="1920240"/>
          </a:xfrm>
          <a:prstGeom prst="rect">
            <a:avLst/>
          </a:prstGeom>
          <a:solidFill>
            <a:srgbClr val="9B72CF"/>
          </a:solidFill>
          <a:ln/>
        </p:spPr>
        <p:txBody>
          <a:bodyPr/>
          <a:lstStyle/>
          <a:p>
            <a:endParaRPr lang="en-US"/>
          </a:p>
        </p:txBody>
      </p:sp>
      <p:sp>
        <p:nvSpPr>
          <p:cNvPr id="12" name="Text 10"/>
          <p:cNvSpPr/>
          <p:nvPr/>
        </p:nvSpPr>
        <p:spPr>
          <a:xfrm>
            <a:off x="50292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Example Ideas</a:t>
            </a:r>
            <a:endParaRPr lang="en-US" sz="1600" dirty="0"/>
          </a:p>
        </p:txBody>
      </p:sp>
      <p:sp>
        <p:nvSpPr>
          <p:cNvPr id="13" name="Text 11"/>
          <p:cNvSpPr/>
          <p:nvPr/>
        </p:nvSpPr>
        <p:spPr>
          <a:xfrm>
            <a:off x="5029200" y="1737360"/>
            <a:ext cx="347472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Always-available therapeutic support (evidence-based)</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Mental health literacy and psychoeducation</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Tools for recognizing when you need professional help</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Stress and burnout prevention</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Peer support facilitation</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Accessibility tools for neurodivergent individuals</a:t>
            </a:r>
            <a:endParaRPr lang="en-US" sz="1050" dirty="0"/>
          </a:p>
        </p:txBody>
      </p:sp>
      <p:sp>
        <p:nvSpPr>
          <p:cNvPr id="14" name="Shape 12"/>
          <p:cNvSpPr/>
          <p:nvPr/>
        </p:nvSpPr>
        <p:spPr>
          <a:xfrm>
            <a:off x="457200" y="3520440"/>
            <a:ext cx="8229600" cy="132588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5" name="Text 13"/>
          <p:cNvSpPr/>
          <p:nvPr/>
        </p:nvSpPr>
        <p:spPr>
          <a:xfrm>
            <a:off x="685800" y="3566160"/>
            <a:ext cx="7772400" cy="320040"/>
          </a:xfrm>
          <a:prstGeom prst="rect">
            <a:avLst/>
          </a:prstGeom>
          <a:noFill/>
          <a:ln/>
        </p:spPr>
        <p:txBody>
          <a:bodyPr wrap="square" lIns="0" tIns="0" rIns="0" bIns="0"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Ethical Considerations</a:t>
            </a:r>
            <a:endParaRPr lang="en-US" sz="1400" dirty="0"/>
          </a:p>
        </p:txBody>
      </p:sp>
      <p:sp>
        <p:nvSpPr>
          <p:cNvPr id="16" name="Text 14"/>
          <p:cNvSpPr/>
          <p:nvPr/>
        </p:nvSpPr>
        <p:spPr>
          <a:xfrm>
            <a:off x="685800" y="3886200"/>
            <a:ext cx="7772400" cy="91440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Crisis situations — when does someone need immediate human intervention?</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Privacy and stigma around mental health data</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Cultural competence in mental health approaches</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Not replacing human connection when it's needed</a:t>
            </a:r>
            <a:endParaRPr lang="en-US" sz="1000" dirty="0"/>
          </a:p>
        </p:txBody>
      </p:sp>
      <p:sp>
        <p:nvSpPr>
          <p:cNvPr id="17" name="Shape 15"/>
          <p:cNvSpPr/>
          <p:nvPr/>
        </p:nvSpPr>
        <p:spPr>
          <a:xfrm>
            <a:off x="0" y="4709160"/>
            <a:ext cx="9144000" cy="434340"/>
          </a:xfrm>
          <a:prstGeom prst="rect">
            <a:avLst/>
          </a:prstGeom>
          <a:solidFill>
            <a:srgbClr val="1E1E1E"/>
          </a:solidFill>
          <a:ln/>
        </p:spPr>
        <p:txBody>
          <a:bodyPr/>
          <a:lstStyle/>
          <a:p>
            <a:endParaRPr lang="en-US"/>
          </a:p>
        </p:txBody>
      </p:sp>
      <p:sp>
        <p:nvSpPr>
          <p:cNvPr id="18" name="Text 16"/>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411480" y="228600"/>
            <a:ext cx="457200" cy="457200"/>
          </a:xfrm>
          <a:prstGeom prst="ellipse">
            <a:avLst/>
          </a:prstGeom>
          <a:solidFill>
            <a:srgbClr val="4A90D9"/>
          </a:solidFill>
          <a:ln/>
        </p:spPr>
        <p:txBody>
          <a:bodyPr/>
          <a:lstStyle/>
          <a:p>
            <a:endParaRPr lang="en-US"/>
          </a:p>
        </p:txBody>
      </p:sp>
      <p:sp>
        <p:nvSpPr>
          <p:cNvPr id="3" name="Text 1"/>
          <p:cNvSpPr/>
          <p:nvPr/>
        </p:nvSpPr>
        <p:spPr>
          <a:xfrm>
            <a:off x="411480" y="228600"/>
            <a:ext cx="457200" cy="457200"/>
          </a:xfrm>
          <a:prstGeom prst="rect">
            <a:avLst/>
          </a:prstGeom>
          <a:noFill/>
          <a:ln/>
        </p:spPr>
        <p:txBody>
          <a:bodyPr wrap="square" lIns="0" tIns="0" rIns="0" bIns="0" rtlCol="0" anchor="ctr"/>
          <a:lstStyle/>
          <a:p>
            <a:pPr marL="0" indent="0" algn="ctr">
              <a:buNone/>
            </a:pPr>
            <a:r>
              <a:rPr lang="en-US" sz="1600" b="1" dirty="0">
                <a:solidFill>
                  <a:srgbClr val="121212"/>
                </a:solidFill>
                <a:latin typeface="Arial Black" pitchFamily="34" charset="0"/>
                <a:ea typeface="Arial Black" pitchFamily="34" charset="-122"/>
                <a:cs typeface="Arial Black" pitchFamily="34" charset="-120"/>
              </a:rPr>
              <a:t>2</a:t>
            </a:r>
            <a:endParaRPr lang="en-US" sz="1600" dirty="0"/>
          </a:p>
        </p:txBody>
      </p:sp>
      <p:sp>
        <p:nvSpPr>
          <p:cNvPr id="4" name="Text 2"/>
          <p:cNvSpPr/>
          <p:nvPr/>
        </p:nvSpPr>
        <p:spPr>
          <a:xfrm>
            <a:off x="1005840" y="228600"/>
            <a:ext cx="768096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AI Tooling</a:t>
            </a:r>
            <a:endParaRPr lang="en-US" sz="2800" dirty="0"/>
          </a:p>
        </p:txBody>
      </p:sp>
      <p:sp>
        <p:nvSpPr>
          <p:cNvPr id="5" name="Text 3"/>
          <p:cNvSpPr/>
          <p:nvPr/>
        </p:nvSpPr>
        <p:spPr>
          <a:xfrm>
            <a:off x="457200" y="822960"/>
            <a:ext cx="8229600" cy="411480"/>
          </a:xfrm>
          <a:prstGeom prst="rect">
            <a:avLst/>
          </a:prstGeom>
          <a:noFill/>
          <a:ln/>
        </p:spPr>
        <p:txBody>
          <a:bodyPr wrap="square" lIns="0" tIns="0" rIns="0" bIns="0" rtlCol="0" anchor="ctr"/>
          <a:lstStyle/>
          <a:p>
            <a:pPr marL="0" indent="0">
              <a:buNone/>
            </a:pPr>
            <a:r>
              <a:rPr lang="en-US" sz="1300" i="1" dirty="0">
                <a:solidFill>
                  <a:srgbClr val="4A90D9"/>
                </a:solidFill>
                <a:latin typeface="Calibri" pitchFamily="34" charset="0"/>
                <a:ea typeface="Calibri" pitchFamily="34" charset="-122"/>
                <a:cs typeface="Calibri" pitchFamily="34" charset="-120"/>
              </a:rPr>
              <a:t>How can you make AI more useful, reliable, or accessible through better developer tools and infrastructure?</a:t>
            </a:r>
            <a:endParaRPr lang="en-US" sz="1300" dirty="0"/>
          </a:p>
        </p:txBody>
      </p:sp>
      <p:sp>
        <p:nvSpPr>
          <p:cNvPr id="6" name="Shape 4"/>
          <p:cNvSpPr/>
          <p:nvPr/>
        </p:nvSpPr>
        <p:spPr>
          <a:xfrm>
            <a:off x="4572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457200" y="1371600"/>
            <a:ext cx="45720" cy="1920240"/>
          </a:xfrm>
          <a:prstGeom prst="rect">
            <a:avLst/>
          </a:prstGeom>
          <a:solidFill>
            <a:srgbClr val="4A90D9"/>
          </a:solidFill>
          <a:ln/>
        </p:spPr>
        <p:txBody>
          <a:bodyPr/>
          <a:lstStyle/>
          <a:p>
            <a:endParaRPr lang="en-US"/>
          </a:p>
        </p:txBody>
      </p:sp>
      <p:sp>
        <p:nvSpPr>
          <p:cNvPr id="8" name="Text 6"/>
          <p:cNvSpPr/>
          <p:nvPr/>
        </p:nvSpPr>
        <p:spPr>
          <a:xfrm>
            <a:off x="6858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9" name="Text 7"/>
          <p:cNvSpPr/>
          <p:nvPr/>
        </p:nvSpPr>
        <p:spPr>
          <a:xfrm>
            <a:off x="685800" y="1737360"/>
            <a:ext cx="3474720" cy="1463040"/>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AI capabilities are advancing fast, but the tooling around them hasn't kept up. Developers struggle with fragmented workflows, unreliable integrations, and steep learning curves. The gap between what AI can do and what developers can easily build with it remains wide.</a:t>
            </a:r>
            <a:endParaRPr lang="en-US" sz="1100" dirty="0"/>
          </a:p>
        </p:txBody>
      </p:sp>
      <p:sp>
        <p:nvSpPr>
          <p:cNvPr id="10" name="Shape 8"/>
          <p:cNvSpPr/>
          <p:nvPr/>
        </p:nvSpPr>
        <p:spPr>
          <a:xfrm>
            <a:off x="48006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4800600" y="1371600"/>
            <a:ext cx="45720" cy="1920240"/>
          </a:xfrm>
          <a:prstGeom prst="rect">
            <a:avLst/>
          </a:prstGeom>
          <a:solidFill>
            <a:srgbClr val="4A90D9"/>
          </a:solidFill>
          <a:ln/>
        </p:spPr>
        <p:txBody>
          <a:bodyPr/>
          <a:lstStyle/>
          <a:p>
            <a:endParaRPr lang="en-US"/>
          </a:p>
        </p:txBody>
      </p:sp>
      <p:sp>
        <p:nvSpPr>
          <p:cNvPr id="12" name="Text 10"/>
          <p:cNvSpPr/>
          <p:nvPr/>
        </p:nvSpPr>
        <p:spPr>
          <a:xfrm>
            <a:off x="50292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Example Ideas</a:t>
            </a:r>
            <a:endParaRPr lang="en-US" sz="1600" dirty="0"/>
          </a:p>
        </p:txBody>
      </p:sp>
      <p:sp>
        <p:nvSpPr>
          <p:cNvPr id="13" name="Text 11"/>
          <p:cNvSpPr/>
          <p:nvPr/>
        </p:nvSpPr>
        <p:spPr>
          <a:xfrm>
            <a:off x="5029200" y="1737360"/>
            <a:ext cx="347472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Developer workflow automation with Claude</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MCP server integrations for new domains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AI-powered debugging or code review tools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Prompt engineering and evaluation frameworks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Infrastructure for reliable AI agent orchestration</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Tools that make AI accessible to non-technical users</a:t>
            </a:r>
            <a:endParaRPr lang="en-US" sz="1050" dirty="0"/>
          </a:p>
        </p:txBody>
      </p:sp>
      <p:sp>
        <p:nvSpPr>
          <p:cNvPr id="14" name="Shape 12"/>
          <p:cNvSpPr/>
          <p:nvPr/>
        </p:nvSpPr>
        <p:spPr>
          <a:xfrm>
            <a:off x="457200" y="3520440"/>
            <a:ext cx="8229600" cy="132588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5" name="Text 13"/>
          <p:cNvSpPr/>
          <p:nvPr/>
        </p:nvSpPr>
        <p:spPr>
          <a:xfrm>
            <a:off x="685800" y="3566160"/>
            <a:ext cx="7772400" cy="320040"/>
          </a:xfrm>
          <a:prstGeom prst="rect">
            <a:avLst/>
          </a:prstGeom>
          <a:noFill/>
          <a:ln/>
        </p:spPr>
        <p:txBody>
          <a:bodyPr wrap="square" lIns="0" tIns="0" rIns="0" bIns="0"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Ethical Considerations</a:t>
            </a:r>
            <a:endParaRPr lang="en-US" sz="1400" dirty="0"/>
          </a:p>
        </p:txBody>
      </p:sp>
      <p:sp>
        <p:nvSpPr>
          <p:cNvPr id="16" name="Text 14"/>
          <p:cNvSpPr/>
          <p:nvPr/>
        </p:nvSpPr>
        <p:spPr>
          <a:xfrm>
            <a:off x="685800" y="3886200"/>
            <a:ext cx="7772400" cy="91440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Reliability — what happens when AI tools fail in production?</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Security implications of AI-generated code</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Transparency in how AI tools make decisions</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Ensuring tools empower developers rather than create dependency</a:t>
            </a:r>
            <a:endParaRPr lang="en-US" sz="1000" dirty="0"/>
          </a:p>
        </p:txBody>
      </p:sp>
      <p:sp>
        <p:nvSpPr>
          <p:cNvPr id="17" name="Shape 15"/>
          <p:cNvSpPr/>
          <p:nvPr/>
        </p:nvSpPr>
        <p:spPr>
          <a:xfrm>
            <a:off x="0" y="4709160"/>
            <a:ext cx="9144000" cy="434340"/>
          </a:xfrm>
          <a:prstGeom prst="rect">
            <a:avLst/>
          </a:prstGeom>
          <a:solidFill>
            <a:srgbClr val="1E1E1E"/>
          </a:solidFill>
          <a:ln/>
        </p:spPr>
        <p:txBody>
          <a:bodyPr/>
          <a:lstStyle/>
          <a:p>
            <a:endParaRPr lang="en-US"/>
          </a:p>
        </p:txBody>
      </p:sp>
      <p:sp>
        <p:nvSpPr>
          <p:cNvPr id="18" name="Text 16"/>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411480" y="228600"/>
            <a:ext cx="457200" cy="457200"/>
          </a:xfrm>
          <a:prstGeom prst="ellipse">
            <a:avLst/>
          </a:prstGeom>
          <a:solidFill>
            <a:srgbClr val="4CAF50"/>
          </a:solidFill>
          <a:ln/>
        </p:spPr>
        <p:txBody>
          <a:bodyPr/>
          <a:lstStyle/>
          <a:p>
            <a:endParaRPr lang="en-US"/>
          </a:p>
        </p:txBody>
      </p:sp>
      <p:sp>
        <p:nvSpPr>
          <p:cNvPr id="3" name="Text 1"/>
          <p:cNvSpPr/>
          <p:nvPr/>
        </p:nvSpPr>
        <p:spPr>
          <a:xfrm>
            <a:off x="411480" y="228600"/>
            <a:ext cx="457200" cy="457200"/>
          </a:xfrm>
          <a:prstGeom prst="rect">
            <a:avLst/>
          </a:prstGeom>
          <a:noFill/>
          <a:ln/>
        </p:spPr>
        <p:txBody>
          <a:bodyPr wrap="square" lIns="0" tIns="0" rIns="0" bIns="0" rtlCol="0" anchor="ctr"/>
          <a:lstStyle/>
          <a:p>
            <a:pPr marL="0" indent="0" algn="ctr">
              <a:buNone/>
            </a:pPr>
            <a:r>
              <a:rPr lang="en-US" sz="1600" b="1" dirty="0">
                <a:solidFill>
                  <a:srgbClr val="121212"/>
                </a:solidFill>
                <a:latin typeface="Arial Black" pitchFamily="34" charset="0"/>
                <a:ea typeface="Arial Black" pitchFamily="34" charset="-122"/>
                <a:cs typeface="Arial Black" pitchFamily="34" charset="-120"/>
              </a:rPr>
              <a:t>3</a:t>
            </a:r>
            <a:endParaRPr lang="en-US" sz="1600" dirty="0"/>
          </a:p>
        </p:txBody>
      </p:sp>
      <p:sp>
        <p:nvSpPr>
          <p:cNvPr id="4" name="Text 2"/>
          <p:cNvSpPr/>
          <p:nvPr/>
        </p:nvSpPr>
        <p:spPr>
          <a:xfrm>
            <a:off x="1005840" y="228600"/>
            <a:ext cx="768096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Economic Empowerment &amp; Education</a:t>
            </a:r>
            <a:endParaRPr lang="en-US" sz="2800" dirty="0"/>
          </a:p>
        </p:txBody>
      </p:sp>
      <p:sp>
        <p:nvSpPr>
          <p:cNvPr id="5" name="Text 3"/>
          <p:cNvSpPr/>
          <p:nvPr/>
        </p:nvSpPr>
        <p:spPr>
          <a:xfrm>
            <a:off x="457200" y="822960"/>
            <a:ext cx="8229600" cy="411480"/>
          </a:xfrm>
          <a:prstGeom prst="rect">
            <a:avLst/>
          </a:prstGeom>
          <a:noFill/>
          <a:ln/>
        </p:spPr>
        <p:txBody>
          <a:bodyPr wrap="square" lIns="0" tIns="0" rIns="0" bIns="0" rtlCol="0" anchor="ctr"/>
          <a:lstStyle/>
          <a:p>
            <a:pPr marL="0" indent="0">
              <a:buNone/>
            </a:pPr>
            <a:r>
              <a:rPr lang="en-US" sz="1300" i="1" dirty="0">
                <a:solidFill>
                  <a:srgbClr val="4CAF50"/>
                </a:solidFill>
                <a:latin typeface="Calibri" pitchFamily="34" charset="0"/>
                <a:ea typeface="Calibri" pitchFamily="34" charset="-122"/>
                <a:cs typeface="Calibri" pitchFamily="34" charset="-120"/>
              </a:rPr>
              <a:t>How can you help people learn, gain skills, find opportunities, or improve their economic situation?</a:t>
            </a:r>
            <a:endParaRPr lang="en-US" sz="1300" dirty="0"/>
          </a:p>
        </p:txBody>
      </p:sp>
      <p:sp>
        <p:nvSpPr>
          <p:cNvPr id="6" name="Shape 4"/>
          <p:cNvSpPr/>
          <p:nvPr/>
        </p:nvSpPr>
        <p:spPr>
          <a:xfrm>
            <a:off x="4572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457200" y="1371600"/>
            <a:ext cx="45720" cy="1920240"/>
          </a:xfrm>
          <a:prstGeom prst="rect">
            <a:avLst/>
          </a:prstGeom>
          <a:solidFill>
            <a:srgbClr val="4CAF50"/>
          </a:solidFill>
          <a:ln/>
        </p:spPr>
        <p:txBody>
          <a:bodyPr/>
          <a:lstStyle/>
          <a:p>
            <a:endParaRPr lang="en-US"/>
          </a:p>
        </p:txBody>
      </p:sp>
      <p:sp>
        <p:nvSpPr>
          <p:cNvPr id="8" name="Text 6"/>
          <p:cNvSpPr/>
          <p:nvPr/>
        </p:nvSpPr>
        <p:spPr>
          <a:xfrm>
            <a:off x="6858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9" name="Text 7"/>
          <p:cNvSpPr/>
          <p:nvPr/>
        </p:nvSpPr>
        <p:spPr>
          <a:xfrm>
            <a:off x="685800" y="1737360"/>
            <a:ext cx="3474720" cy="1463040"/>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Opportunity isn't equal. Quality education and economic advancement are gatekept by geography, wealth, and language. Talent is universal, but access to support isn't.</a:t>
            </a:r>
            <a:endParaRPr lang="en-US" sz="1100" dirty="0"/>
          </a:p>
        </p:txBody>
      </p:sp>
      <p:sp>
        <p:nvSpPr>
          <p:cNvPr id="10" name="Shape 8"/>
          <p:cNvSpPr/>
          <p:nvPr/>
        </p:nvSpPr>
        <p:spPr>
          <a:xfrm>
            <a:off x="48006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4800600" y="1371600"/>
            <a:ext cx="45720" cy="1920240"/>
          </a:xfrm>
          <a:prstGeom prst="rect">
            <a:avLst/>
          </a:prstGeom>
          <a:solidFill>
            <a:srgbClr val="4CAF50"/>
          </a:solidFill>
          <a:ln/>
        </p:spPr>
        <p:txBody>
          <a:bodyPr/>
          <a:lstStyle/>
          <a:p>
            <a:endParaRPr lang="en-US"/>
          </a:p>
        </p:txBody>
      </p:sp>
      <p:sp>
        <p:nvSpPr>
          <p:cNvPr id="12" name="Text 10"/>
          <p:cNvSpPr/>
          <p:nvPr/>
        </p:nvSpPr>
        <p:spPr>
          <a:xfrm>
            <a:off x="50292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Example Ideas</a:t>
            </a:r>
            <a:endParaRPr lang="en-US" sz="1600" dirty="0"/>
          </a:p>
        </p:txBody>
      </p:sp>
      <p:sp>
        <p:nvSpPr>
          <p:cNvPr id="13" name="Text 11"/>
          <p:cNvSpPr/>
          <p:nvPr/>
        </p:nvSpPr>
        <p:spPr>
          <a:xfrm>
            <a:off x="5029200" y="1737360"/>
            <a:ext cx="347472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Adaptive tutoring</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Career transition guidance</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Financial literacy for underserved communities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Job interview prep</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Small business / nonprofit support</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Scholarship matching and language learning</a:t>
            </a:r>
            <a:endParaRPr lang="en-US" sz="1050" dirty="0"/>
          </a:p>
        </p:txBody>
      </p:sp>
      <p:sp>
        <p:nvSpPr>
          <p:cNvPr id="14" name="Shape 12"/>
          <p:cNvSpPr/>
          <p:nvPr/>
        </p:nvSpPr>
        <p:spPr>
          <a:xfrm>
            <a:off x="457200" y="3520440"/>
            <a:ext cx="8229600" cy="132588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5" name="Text 13"/>
          <p:cNvSpPr/>
          <p:nvPr/>
        </p:nvSpPr>
        <p:spPr>
          <a:xfrm>
            <a:off x="685800" y="3566160"/>
            <a:ext cx="7772400" cy="320040"/>
          </a:xfrm>
          <a:prstGeom prst="rect">
            <a:avLst/>
          </a:prstGeom>
          <a:noFill/>
          <a:ln/>
        </p:spPr>
        <p:txBody>
          <a:bodyPr wrap="square" lIns="0" tIns="0" rIns="0" bIns="0"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Ethical Considerations</a:t>
            </a:r>
            <a:endParaRPr lang="en-US" sz="1400" dirty="0"/>
          </a:p>
        </p:txBody>
      </p:sp>
      <p:sp>
        <p:nvSpPr>
          <p:cNvPr id="16" name="Text 14"/>
          <p:cNvSpPr/>
          <p:nvPr/>
        </p:nvSpPr>
        <p:spPr>
          <a:xfrm>
            <a:off x="685800" y="3886200"/>
            <a:ext cx="7772400" cy="91440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Who gets excluded by your design (tech, literacy, language)?</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Impact of bad advice when guiding careers or education</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Empowering informed choices vs. making choices for people</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Cultural assumptions about what 'success' means</a:t>
            </a:r>
            <a:endParaRPr lang="en-US" sz="1000" dirty="0"/>
          </a:p>
        </p:txBody>
      </p:sp>
      <p:sp>
        <p:nvSpPr>
          <p:cNvPr id="17" name="Shape 15"/>
          <p:cNvSpPr/>
          <p:nvPr/>
        </p:nvSpPr>
        <p:spPr>
          <a:xfrm>
            <a:off x="0" y="4709160"/>
            <a:ext cx="9144000" cy="434340"/>
          </a:xfrm>
          <a:prstGeom prst="rect">
            <a:avLst/>
          </a:prstGeom>
          <a:solidFill>
            <a:srgbClr val="1E1E1E"/>
          </a:solidFill>
          <a:ln/>
        </p:spPr>
        <p:txBody>
          <a:bodyPr/>
          <a:lstStyle/>
          <a:p>
            <a:endParaRPr lang="en-US"/>
          </a:p>
        </p:txBody>
      </p:sp>
      <p:sp>
        <p:nvSpPr>
          <p:cNvPr id="18" name="Text 16"/>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411480" y="228600"/>
            <a:ext cx="457200" cy="457200"/>
          </a:xfrm>
          <a:prstGeom prst="ellipse">
            <a:avLst/>
          </a:prstGeom>
          <a:solidFill>
            <a:srgbClr val="E07B3C"/>
          </a:solidFill>
          <a:ln/>
        </p:spPr>
        <p:txBody>
          <a:bodyPr/>
          <a:lstStyle/>
          <a:p>
            <a:endParaRPr lang="en-US"/>
          </a:p>
        </p:txBody>
      </p:sp>
      <p:sp>
        <p:nvSpPr>
          <p:cNvPr id="3" name="Text 1"/>
          <p:cNvSpPr/>
          <p:nvPr/>
        </p:nvSpPr>
        <p:spPr>
          <a:xfrm>
            <a:off x="411480" y="228600"/>
            <a:ext cx="457200" cy="457200"/>
          </a:xfrm>
          <a:prstGeom prst="rect">
            <a:avLst/>
          </a:prstGeom>
          <a:noFill/>
          <a:ln/>
        </p:spPr>
        <p:txBody>
          <a:bodyPr wrap="square" lIns="0" tIns="0" rIns="0" bIns="0" rtlCol="0" anchor="ctr"/>
          <a:lstStyle/>
          <a:p>
            <a:pPr marL="0" indent="0" algn="ctr">
              <a:buNone/>
            </a:pPr>
            <a:r>
              <a:rPr lang="en-US" sz="1600" b="1" dirty="0">
                <a:solidFill>
                  <a:srgbClr val="121212"/>
                </a:solidFill>
                <a:latin typeface="Arial Black" pitchFamily="34" charset="0"/>
                <a:ea typeface="Arial Black" pitchFamily="34" charset="-122"/>
                <a:cs typeface="Arial Black" pitchFamily="34" charset="-120"/>
              </a:rPr>
              <a:t>4</a:t>
            </a:r>
            <a:endParaRPr lang="en-US" sz="1600" dirty="0"/>
          </a:p>
        </p:txBody>
      </p:sp>
      <p:sp>
        <p:nvSpPr>
          <p:cNvPr id="4" name="Text 2"/>
          <p:cNvSpPr/>
          <p:nvPr/>
        </p:nvSpPr>
        <p:spPr>
          <a:xfrm>
            <a:off x="1005840" y="228600"/>
            <a:ext cx="768096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Governance &amp; Collaboration</a:t>
            </a:r>
            <a:endParaRPr lang="en-US" sz="2800" dirty="0"/>
          </a:p>
        </p:txBody>
      </p:sp>
      <p:sp>
        <p:nvSpPr>
          <p:cNvPr id="5" name="Text 3"/>
          <p:cNvSpPr/>
          <p:nvPr/>
        </p:nvSpPr>
        <p:spPr>
          <a:xfrm>
            <a:off x="457200" y="822960"/>
            <a:ext cx="8229600" cy="411480"/>
          </a:xfrm>
          <a:prstGeom prst="rect">
            <a:avLst/>
          </a:prstGeom>
          <a:noFill/>
          <a:ln/>
        </p:spPr>
        <p:txBody>
          <a:bodyPr wrap="square" lIns="0" tIns="0" rIns="0" bIns="0" rtlCol="0" anchor="ctr"/>
          <a:lstStyle/>
          <a:p>
            <a:pPr marL="0" indent="0">
              <a:buNone/>
            </a:pPr>
            <a:r>
              <a:rPr lang="en-US" sz="1300" i="1" dirty="0">
                <a:solidFill>
                  <a:srgbClr val="E07B3C"/>
                </a:solidFill>
                <a:latin typeface="Calibri" pitchFamily="34" charset="0"/>
                <a:ea typeface="Calibri" pitchFamily="34" charset="-122"/>
                <a:cs typeface="Calibri" pitchFamily="34" charset="-120"/>
              </a:rPr>
              <a:t>How can you help people participate in democracy, work together across differences, or make collective decisions?</a:t>
            </a:r>
            <a:endParaRPr lang="en-US" sz="1300" dirty="0"/>
          </a:p>
        </p:txBody>
      </p:sp>
      <p:sp>
        <p:nvSpPr>
          <p:cNvPr id="6" name="Shape 4"/>
          <p:cNvSpPr/>
          <p:nvPr/>
        </p:nvSpPr>
        <p:spPr>
          <a:xfrm>
            <a:off x="4572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457200" y="1371600"/>
            <a:ext cx="45720" cy="1920240"/>
          </a:xfrm>
          <a:prstGeom prst="rect">
            <a:avLst/>
          </a:prstGeom>
          <a:solidFill>
            <a:srgbClr val="E07B3C"/>
          </a:solidFill>
          <a:ln/>
        </p:spPr>
        <p:txBody>
          <a:bodyPr/>
          <a:lstStyle/>
          <a:p>
            <a:endParaRPr lang="en-US"/>
          </a:p>
        </p:txBody>
      </p:sp>
      <p:sp>
        <p:nvSpPr>
          <p:cNvPr id="8" name="Text 6"/>
          <p:cNvSpPr/>
          <p:nvPr/>
        </p:nvSpPr>
        <p:spPr>
          <a:xfrm>
            <a:off x="6858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9" name="Text 7"/>
          <p:cNvSpPr/>
          <p:nvPr/>
        </p:nvSpPr>
        <p:spPr>
          <a:xfrm>
            <a:off x="685800" y="1737360"/>
            <a:ext cx="3474720" cy="1463040"/>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Democratic institutions are strained. Polarization makes productive dialogue difficult. Civic participation is down because people feel powerless or confused. Communities can't coordinate around shared challenges.</a:t>
            </a:r>
            <a:endParaRPr lang="en-US" sz="1100" dirty="0"/>
          </a:p>
        </p:txBody>
      </p:sp>
      <p:sp>
        <p:nvSpPr>
          <p:cNvPr id="10" name="Shape 8"/>
          <p:cNvSpPr/>
          <p:nvPr/>
        </p:nvSpPr>
        <p:spPr>
          <a:xfrm>
            <a:off x="48006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4800600" y="1371600"/>
            <a:ext cx="45720" cy="1920240"/>
          </a:xfrm>
          <a:prstGeom prst="rect">
            <a:avLst/>
          </a:prstGeom>
          <a:solidFill>
            <a:srgbClr val="E07B3C"/>
          </a:solidFill>
          <a:ln/>
        </p:spPr>
        <p:txBody>
          <a:bodyPr/>
          <a:lstStyle/>
          <a:p>
            <a:endParaRPr lang="en-US"/>
          </a:p>
        </p:txBody>
      </p:sp>
      <p:sp>
        <p:nvSpPr>
          <p:cNvPr id="12" name="Text 10"/>
          <p:cNvSpPr/>
          <p:nvPr/>
        </p:nvSpPr>
        <p:spPr>
          <a:xfrm>
            <a:off x="50292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Example Ideas</a:t>
            </a:r>
            <a:endParaRPr lang="en-US" sz="1600" dirty="0"/>
          </a:p>
        </p:txBody>
      </p:sp>
      <p:sp>
        <p:nvSpPr>
          <p:cNvPr id="13" name="Text 11"/>
          <p:cNvSpPr/>
          <p:nvPr/>
        </p:nvSpPr>
        <p:spPr>
          <a:xfrm>
            <a:off x="5029200" y="1737360"/>
            <a:ext cx="347472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Community deliberation platforms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Policy explanation tools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Legislative transparency</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Grassroots organizing support</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Participatory budgeting</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Conflict mediation and voter education</a:t>
            </a:r>
            <a:endParaRPr lang="en-US" sz="1050" dirty="0"/>
          </a:p>
        </p:txBody>
      </p:sp>
      <p:sp>
        <p:nvSpPr>
          <p:cNvPr id="14" name="Shape 12"/>
          <p:cNvSpPr/>
          <p:nvPr/>
        </p:nvSpPr>
        <p:spPr>
          <a:xfrm>
            <a:off x="457200" y="3520440"/>
            <a:ext cx="8229600" cy="132588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5" name="Text 13"/>
          <p:cNvSpPr/>
          <p:nvPr/>
        </p:nvSpPr>
        <p:spPr>
          <a:xfrm>
            <a:off x="685800" y="3566160"/>
            <a:ext cx="7772400" cy="320040"/>
          </a:xfrm>
          <a:prstGeom prst="rect">
            <a:avLst/>
          </a:prstGeom>
          <a:noFill/>
          <a:ln/>
        </p:spPr>
        <p:txBody>
          <a:bodyPr wrap="square" lIns="0" tIns="0" rIns="0" bIns="0"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Ethical Considerations</a:t>
            </a:r>
            <a:endParaRPr lang="en-US" sz="1400" dirty="0"/>
          </a:p>
        </p:txBody>
      </p:sp>
      <p:sp>
        <p:nvSpPr>
          <p:cNvPr id="16" name="Text 14"/>
          <p:cNvSpPr/>
          <p:nvPr/>
        </p:nvSpPr>
        <p:spPr>
          <a:xfrm>
            <a:off x="685800" y="3886200"/>
            <a:ext cx="7772400" cy="91440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How could this be weaponized for manipulation or suppressing dissent?</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Whose voices get centered vs. drowned out?</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Handling factual disputes vs. 'both-sidesing' reality</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Privacy in civic participation</a:t>
            </a:r>
            <a:endParaRPr lang="en-US" sz="1000" dirty="0"/>
          </a:p>
        </p:txBody>
      </p:sp>
      <p:sp>
        <p:nvSpPr>
          <p:cNvPr id="17" name="Shape 15"/>
          <p:cNvSpPr/>
          <p:nvPr/>
        </p:nvSpPr>
        <p:spPr>
          <a:xfrm>
            <a:off x="0" y="4709160"/>
            <a:ext cx="9144000" cy="434340"/>
          </a:xfrm>
          <a:prstGeom prst="rect">
            <a:avLst/>
          </a:prstGeom>
          <a:solidFill>
            <a:srgbClr val="1E1E1E"/>
          </a:solidFill>
          <a:ln/>
        </p:spPr>
        <p:txBody>
          <a:bodyPr/>
          <a:lstStyle/>
          <a:p>
            <a:endParaRPr lang="en-US"/>
          </a:p>
        </p:txBody>
      </p:sp>
      <p:sp>
        <p:nvSpPr>
          <p:cNvPr id="18" name="Text 16"/>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411480" y="228600"/>
            <a:ext cx="457200" cy="457200"/>
          </a:xfrm>
          <a:prstGeom prst="ellipse">
            <a:avLst/>
          </a:prstGeom>
          <a:solidFill>
            <a:srgbClr val="E05D5D"/>
          </a:solidFill>
          <a:ln/>
        </p:spPr>
        <p:txBody>
          <a:bodyPr/>
          <a:lstStyle/>
          <a:p>
            <a:endParaRPr lang="en-US"/>
          </a:p>
        </p:txBody>
      </p:sp>
      <p:sp>
        <p:nvSpPr>
          <p:cNvPr id="3" name="Text 1"/>
          <p:cNvSpPr/>
          <p:nvPr/>
        </p:nvSpPr>
        <p:spPr>
          <a:xfrm>
            <a:off x="411480" y="228600"/>
            <a:ext cx="457200" cy="457200"/>
          </a:xfrm>
          <a:prstGeom prst="rect">
            <a:avLst/>
          </a:prstGeom>
          <a:noFill/>
          <a:ln/>
        </p:spPr>
        <p:txBody>
          <a:bodyPr wrap="square" lIns="0" tIns="0" rIns="0" bIns="0" rtlCol="0" anchor="ctr"/>
          <a:lstStyle/>
          <a:p>
            <a:pPr marL="0" indent="0" algn="ctr">
              <a:buNone/>
            </a:pPr>
            <a:r>
              <a:rPr lang="en-US" sz="1600" b="1" dirty="0">
                <a:solidFill>
                  <a:srgbClr val="121212"/>
                </a:solidFill>
                <a:latin typeface="Arial Black" pitchFamily="34" charset="0"/>
                <a:ea typeface="Arial Black" pitchFamily="34" charset="-122"/>
                <a:cs typeface="Arial Black" pitchFamily="34" charset="-120"/>
              </a:rPr>
              <a:t>5</a:t>
            </a:r>
            <a:endParaRPr lang="en-US" sz="1600" dirty="0"/>
          </a:p>
        </p:txBody>
      </p:sp>
      <p:sp>
        <p:nvSpPr>
          <p:cNvPr id="4" name="Text 2"/>
          <p:cNvSpPr/>
          <p:nvPr/>
        </p:nvSpPr>
        <p:spPr>
          <a:xfrm>
            <a:off x="1005840" y="228600"/>
            <a:ext cx="768096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Arial Black" pitchFamily="34" charset="0"/>
                <a:ea typeface="Arial Black" pitchFamily="34" charset="-122"/>
                <a:cs typeface="Arial Black" pitchFamily="34" charset="-120"/>
              </a:rPr>
              <a:t>Creative Flourishing</a:t>
            </a:r>
            <a:endParaRPr lang="en-US" sz="2800" dirty="0"/>
          </a:p>
        </p:txBody>
      </p:sp>
      <p:sp>
        <p:nvSpPr>
          <p:cNvPr id="5" name="Text 3"/>
          <p:cNvSpPr/>
          <p:nvPr/>
        </p:nvSpPr>
        <p:spPr>
          <a:xfrm>
            <a:off x="457200" y="822960"/>
            <a:ext cx="8229600" cy="411480"/>
          </a:xfrm>
          <a:prstGeom prst="rect">
            <a:avLst/>
          </a:prstGeom>
          <a:noFill/>
          <a:ln/>
        </p:spPr>
        <p:txBody>
          <a:bodyPr wrap="square" lIns="0" tIns="0" rIns="0" bIns="0" rtlCol="0" anchor="ctr"/>
          <a:lstStyle/>
          <a:p>
            <a:pPr marL="0" indent="0">
              <a:buNone/>
            </a:pPr>
            <a:r>
              <a:rPr lang="en-US" sz="1300" i="1" dirty="0">
                <a:solidFill>
                  <a:srgbClr val="E05D5D"/>
                </a:solidFill>
                <a:latin typeface="Calibri" pitchFamily="34" charset="0"/>
                <a:ea typeface="Calibri" pitchFamily="34" charset="-122"/>
                <a:cs typeface="Calibri" pitchFamily="34" charset="-120"/>
              </a:rPr>
              <a:t>Build something that amplifies human creativity, helps people find meaning, or supports cultural expression.</a:t>
            </a:r>
            <a:endParaRPr lang="en-US" sz="1300" dirty="0"/>
          </a:p>
        </p:txBody>
      </p:sp>
      <p:sp>
        <p:nvSpPr>
          <p:cNvPr id="6" name="Shape 4"/>
          <p:cNvSpPr/>
          <p:nvPr/>
        </p:nvSpPr>
        <p:spPr>
          <a:xfrm>
            <a:off x="4572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7" name="Shape 5"/>
          <p:cNvSpPr/>
          <p:nvPr/>
        </p:nvSpPr>
        <p:spPr>
          <a:xfrm>
            <a:off x="457200" y="1371600"/>
            <a:ext cx="45720" cy="1920240"/>
          </a:xfrm>
          <a:prstGeom prst="rect">
            <a:avLst/>
          </a:prstGeom>
          <a:solidFill>
            <a:srgbClr val="E05D5D"/>
          </a:solidFill>
          <a:ln/>
        </p:spPr>
        <p:txBody>
          <a:bodyPr/>
          <a:lstStyle/>
          <a:p>
            <a:endParaRPr lang="en-US"/>
          </a:p>
        </p:txBody>
      </p:sp>
      <p:sp>
        <p:nvSpPr>
          <p:cNvPr id="8" name="Text 6"/>
          <p:cNvSpPr/>
          <p:nvPr/>
        </p:nvSpPr>
        <p:spPr>
          <a:xfrm>
            <a:off x="6858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Problem</a:t>
            </a:r>
            <a:endParaRPr lang="en-US" sz="1600" dirty="0"/>
          </a:p>
        </p:txBody>
      </p:sp>
      <p:sp>
        <p:nvSpPr>
          <p:cNvPr id="9" name="Text 7"/>
          <p:cNvSpPr/>
          <p:nvPr/>
        </p:nvSpPr>
        <p:spPr>
          <a:xfrm>
            <a:off x="685800" y="1737360"/>
            <a:ext cx="3474720" cy="1463040"/>
          </a:xfrm>
          <a:prstGeom prst="rect">
            <a:avLst/>
          </a:prstGeom>
          <a:noFill/>
          <a:ln/>
        </p:spPr>
        <p:txBody>
          <a:bodyPr wrap="square" lIns="0" tIns="0" rIns="0" bIns="0" rtlCol="0" anchor="ctr"/>
          <a:lstStyle/>
          <a:p>
            <a:pPr marL="0" indent="0">
              <a:buNone/>
            </a:pPr>
            <a:r>
              <a:rPr lang="en-US" sz="1100" dirty="0">
                <a:solidFill>
                  <a:srgbClr val="C8C8C8"/>
                </a:solidFill>
                <a:latin typeface="Calibri" pitchFamily="34" charset="0"/>
                <a:ea typeface="Calibri" pitchFamily="34" charset="-122"/>
                <a:cs typeface="Calibri" pitchFamily="34" charset="-120"/>
              </a:rPr>
              <a:t>As AI handles routine work, questions about human purpose become urgent. Access to creative development and cultural preservation isn't equal. People who could find meaning through creative expression often don't get the chance.</a:t>
            </a:r>
            <a:endParaRPr lang="en-US" sz="1100" dirty="0"/>
          </a:p>
        </p:txBody>
      </p:sp>
      <p:sp>
        <p:nvSpPr>
          <p:cNvPr id="10" name="Shape 8"/>
          <p:cNvSpPr/>
          <p:nvPr/>
        </p:nvSpPr>
        <p:spPr>
          <a:xfrm>
            <a:off x="4800600" y="1371600"/>
            <a:ext cx="3886200" cy="19202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9"/>
          <p:cNvSpPr/>
          <p:nvPr/>
        </p:nvSpPr>
        <p:spPr>
          <a:xfrm>
            <a:off x="4800600" y="1371600"/>
            <a:ext cx="45720" cy="1920240"/>
          </a:xfrm>
          <a:prstGeom prst="rect">
            <a:avLst/>
          </a:prstGeom>
          <a:solidFill>
            <a:srgbClr val="E05D5D"/>
          </a:solidFill>
          <a:ln/>
        </p:spPr>
        <p:txBody>
          <a:bodyPr/>
          <a:lstStyle/>
          <a:p>
            <a:endParaRPr lang="en-US"/>
          </a:p>
        </p:txBody>
      </p:sp>
      <p:sp>
        <p:nvSpPr>
          <p:cNvPr id="12" name="Text 10"/>
          <p:cNvSpPr/>
          <p:nvPr/>
        </p:nvSpPr>
        <p:spPr>
          <a:xfrm>
            <a:off x="5029200" y="1417320"/>
            <a:ext cx="347472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Example Ideas</a:t>
            </a:r>
            <a:endParaRPr lang="en-US" sz="1600" dirty="0"/>
          </a:p>
        </p:txBody>
      </p:sp>
      <p:sp>
        <p:nvSpPr>
          <p:cNvPr id="13" name="Text 11"/>
          <p:cNvSpPr/>
          <p:nvPr/>
        </p:nvSpPr>
        <p:spPr>
          <a:xfrm>
            <a:off x="5029200" y="1737360"/>
            <a:ext cx="347472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Community storytelling platforms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Music/art education with real-time feedback</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Writing development tools</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Language and cultural preservation</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Intergenerational knowledge exchange</a:t>
            </a:r>
            <a:endParaRPr lang="en-US" sz="1050" dirty="0"/>
          </a:p>
          <a:p>
            <a:pPr marL="342900" indent="-342900">
              <a:spcAft>
                <a:spcPts val="300"/>
              </a:spcAft>
              <a:buSzPct val="100000"/>
              <a:buChar char="•"/>
            </a:pPr>
            <a:r>
              <a:rPr lang="en-US" sz="1050" dirty="0">
                <a:solidFill>
                  <a:srgbClr val="C8C8C8"/>
                </a:solidFill>
                <a:latin typeface="Calibri" pitchFamily="34" charset="0"/>
                <a:ea typeface="Calibri" pitchFamily="34" charset="-122"/>
                <a:cs typeface="Calibri" pitchFamily="34" charset="-120"/>
              </a:rPr>
              <a:t>Purpose exploration guides</a:t>
            </a:r>
            <a:endParaRPr lang="en-US" sz="1050" dirty="0"/>
          </a:p>
        </p:txBody>
      </p:sp>
      <p:sp>
        <p:nvSpPr>
          <p:cNvPr id="14" name="Shape 12"/>
          <p:cNvSpPr/>
          <p:nvPr/>
        </p:nvSpPr>
        <p:spPr>
          <a:xfrm>
            <a:off x="457200" y="3520440"/>
            <a:ext cx="8229600" cy="132588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5" name="Text 13"/>
          <p:cNvSpPr/>
          <p:nvPr/>
        </p:nvSpPr>
        <p:spPr>
          <a:xfrm>
            <a:off x="685800" y="3566160"/>
            <a:ext cx="7772400" cy="320040"/>
          </a:xfrm>
          <a:prstGeom prst="rect">
            <a:avLst/>
          </a:prstGeom>
          <a:noFill/>
          <a:ln/>
        </p:spPr>
        <p:txBody>
          <a:bodyPr wrap="square" lIns="0" tIns="0" rIns="0" bIns="0" rtlCol="0" anchor="ctr"/>
          <a:lstStyle/>
          <a:p>
            <a:pPr marL="0" indent="0">
              <a:buNone/>
            </a:pPr>
            <a:r>
              <a:rPr lang="en-US" sz="1400" b="1" dirty="0">
                <a:solidFill>
                  <a:srgbClr val="F5C842"/>
                </a:solidFill>
                <a:latin typeface="Calibri" pitchFamily="34" charset="0"/>
                <a:ea typeface="Calibri" pitchFamily="34" charset="-122"/>
                <a:cs typeface="Calibri" pitchFamily="34" charset="-120"/>
              </a:rPr>
              <a:t>Ethical Considerations</a:t>
            </a:r>
            <a:endParaRPr lang="en-US" sz="1400" dirty="0"/>
          </a:p>
        </p:txBody>
      </p:sp>
      <p:sp>
        <p:nvSpPr>
          <p:cNvPr id="16" name="Text 14"/>
          <p:cNvSpPr/>
          <p:nvPr/>
        </p:nvSpPr>
        <p:spPr>
          <a:xfrm>
            <a:off x="685800" y="3886200"/>
            <a:ext cx="7772400" cy="91440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Keeping humans as creators, not just AI prompters</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Enhancing vs. short-cutting the creative process</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Cultural appropriation vs. respectful celebration</a:t>
            </a:r>
            <a:endParaRPr lang="en-US" sz="1000" dirty="0"/>
          </a:p>
          <a:p>
            <a:pPr marL="342900" indent="-342900">
              <a:spcAft>
                <a:spcPts val="200"/>
              </a:spcAft>
              <a:buSzPct val="100000"/>
              <a:buChar char="•"/>
            </a:pPr>
            <a:r>
              <a:rPr lang="en-US" sz="1000" dirty="0">
                <a:solidFill>
                  <a:srgbClr val="C8C8C8"/>
                </a:solidFill>
                <a:latin typeface="Calibri" pitchFamily="34" charset="0"/>
                <a:ea typeface="Calibri" pitchFamily="34" charset="-122"/>
                <a:cs typeface="Calibri" pitchFamily="34" charset="-120"/>
              </a:rPr>
              <a:t>Creating vs. destroying value for creative workers</a:t>
            </a:r>
            <a:endParaRPr lang="en-US" sz="1000" dirty="0"/>
          </a:p>
        </p:txBody>
      </p:sp>
      <p:sp>
        <p:nvSpPr>
          <p:cNvPr id="17" name="Shape 15"/>
          <p:cNvSpPr/>
          <p:nvPr/>
        </p:nvSpPr>
        <p:spPr>
          <a:xfrm>
            <a:off x="0" y="4709160"/>
            <a:ext cx="9144000" cy="434340"/>
          </a:xfrm>
          <a:prstGeom prst="rect">
            <a:avLst/>
          </a:prstGeom>
          <a:solidFill>
            <a:srgbClr val="1E1E1E"/>
          </a:solidFill>
          <a:ln/>
        </p:spPr>
        <p:txBody>
          <a:bodyPr/>
          <a:lstStyle/>
          <a:p>
            <a:endParaRPr lang="en-US"/>
          </a:p>
        </p:txBody>
      </p:sp>
      <p:sp>
        <p:nvSpPr>
          <p:cNvPr id="18" name="Text 16"/>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21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3" name="Text 0"/>
          <p:cNvSpPr/>
          <p:nvPr/>
        </p:nvSpPr>
        <p:spPr>
          <a:xfrm>
            <a:off x="914400" y="228600"/>
            <a:ext cx="7315200" cy="457200"/>
          </a:xfrm>
          <a:prstGeom prst="rect">
            <a:avLst/>
          </a:prstGeom>
          <a:noFill/>
          <a:ln/>
        </p:spPr>
        <p:txBody>
          <a:bodyPr wrap="square" lIns="0" tIns="0" rIns="0" bIns="0" rtlCol="0" anchor="ctr"/>
          <a:lstStyle/>
          <a:p>
            <a:pPr marL="0" indent="0" algn="l">
              <a:buNone/>
            </a:pPr>
            <a:r>
              <a:rPr lang="en-US" sz="3200" b="1" dirty="0">
                <a:solidFill>
                  <a:srgbClr val="FFFFFF"/>
                </a:solidFill>
                <a:latin typeface="Arial Black" pitchFamily="34" charset="0"/>
                <a:ea typeface="Arial Black" pitchFamily="34" charset="-122"/>
                <a:cs typeface="Arial Black" pitchFamily="34" charset="-120"/>
              </a:rPr>
              <a:t>Judging Rubric</a:t>
            </a:r>
            <a:endParaRPr lang="en-US" sz="3200" dirty="0"/>
          </a:p>
        </p:txBody>
      </p:sp>
      <p:sp>
        <p:nvSpPr>
          <p:cNvPr id="4" name="Text 1"/>
          <p:cNvSpPr/>
          <p:nvPr/>
        </p:nvSpPr>
        <p:spPr>
          <a:xfrm>
            <a:off x="914400" y="640080"/>
            <a:ext cx="7315200" cy="320040"/>
          </a:xfrm>
          <a:prstGeom prst="rect">
            <a:avLst/>
          </a:prstGeom>
          <a:noFill/>
          <a:ln/>
        </p:spPr>
        <p:txBody>
          <a:bodyPr wrap="square" lIns="0" tIns="0" rIns="0" bIns="0" rtlCol="0" anchor="ctr"/>
          <a:lstStyle/>
          <a:p>
            <a:pPr marL="0" indent="0">
              <a:buNone/>
            </a:pPr>
            <a:r>
              <a:rPr lang="en-US" sz="1400" dirty="0">
                <a:solidFill>
                  <a:srgbClr val="E07B3C"/>
                </a:solidFill>
                <a:latin typeface="Calibri" pitchFamily="34" charset="0"/>
                <a:ea typeface="Calibri" pitchFamily="34" charset="-122"/>
                <a:cs typeface="Calibri" pitchFamily="34" charset="-120"/>
              </a:rPr>
              <a:t>100 Points Total</a:t>
            </a:r>
            <a:endParaRPr lang="en-US" sz="1400" dirty="0"/>
          </a:p>
        </p:txBody>
      </p:sp>
      <p:sp>
        <p:nvSpPr>
          <p:cNvPr id="5" name="Shape 2"/>
          <p:cNvSpPr/>
          <p:nvPr/>
        </p:nvSpPr>
        <p:spPr>
          <a:xfrm>
            <a:off x="457200" y="1097280"/>
            <a:ext cx="3886200" cy="141732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6" name="Shape 3"/>
          <p:cNvSpPr/>
          <p:nvPr/>
        </p:nvSpPr>
        <p:spPr>
          <a:xfrm>
            <a:off x="457200" y="1097280"/>
            <a:ext cx="45720" cy="1417320"/>
          </a:xfrm>
          <a:prstGeom prst="rect">
            <a:avLst/>
          </a:prstGeom>
          <a:solidFill>
            <a:srgbClr val="E05D5D"/>
          </a:solidFill>
          <a:ln/>
        </p:spPr>
        <p:txBody>
          <a:bodyPr/>
          <a:lstStyle/>
          <a:p>
            <a:endParaRPr lang="en-US"/>
          </a:p>
        </p:txBody>
      </p:sp>
      <p:sp>
        <p:nvSpPr>
          <p:cNvPr id="7" name="Text 4"/>
          <p:cNvSpPr/>
          <p:nvPr/>
        </p:nvSpPr>
        <p:spPr>
          <a:xfrm>
            <a:off x="640080" y="1188720"/>
            <a:ext cx="2743200" cy="3200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Impact Potential</a:t>
            </a:r>
            <a:endParaRPr lang="en-US" sz="1800" dirty="0"/>
          </a:p>
        </p:txBody>
      </p:sp>
      <p:sp>
        <p:nvSpPr>
          <p:cNvPr id="8" name="Text 5"/>
          <p:cNvSpPr/>
          <p:nvPr/>
        </p:nvSpPr>
        <p:spPr>
          <a:xfrm>
            <a:off x="3200400" y="1188720"/>
            <a:ext cx="914400" cy="320040"/>
          </a:xfrm>
          <a:prstGeom prst="rect">
            <a:avLst/>
          </a:prstGeom>
          <a:noFill/>
          <a:ln/>
        </p:spPr>
        <p:txBody>
          <a:bodyPr wrap="square" lIns="0" tIns="0" rIns="0" bIns="0" rtlCol="0" anchor="ctr"/>
          <a:lstStyle/>
          <a:p>
            <a:pPr marL="0" indent="0" algn="r">
              <a:buNone/>
            </a:pPr>
            <a:r>
              <a:rPr lang="en-US" sz="1800" b="1" dirty="0">
                <a:solidFill>
                  <a:srgbClr val="E05D5D"/>
                </a:solidFill>
                <a:latin typeface="Calibri" pitchFamily="34" charset="0"/>
                <a:ea typeface="Calibri" pitchFamily="34" charset="-122"/>
                <a:cs typeface="Calibri" pitchFamily="34" charset="-120"/>
              </a:rPr>
              <a:t>25 pts</a:t>
            </a:r>
            <a:endParaRPr lang="en-US" sz="1800" dirty="0"/>
          </a:p>
        </p:txBody>
      </p:sp>
      <p:sp>
        <p:nvSpPr>
          <p:cNvPr id="9" name="Text 6"/>
          <p:cNvSpPr/>
          <p:nvPr/>
        </p:nvSpPr>
        <p:spPr>
          <a:xfrm>
            <a:off x="640080" y="1600200"/>
            <a:ext cx="3566160" cy="822960"/>
          </a:xfrm>
          <a:prstGeom prst="rect">
            <a:avLst/>
          </a:prstGeom>
          <a:noFill/>
          <a:ln/>
        </p:spPr>
        <p:txBody>
          <a:bodyPr wrap="square" lIns="0" tIns="0" rIns="0" bIns="0" rtlCol="0" anchor="ctr"/>
          <a:lstStyle/>
          <a:p>
            <a:pPr marL="0" indent="0">
              <a:buNone/>
            </a:pPr>
            <a:r>
              <a:rPr lang="en-US" sz="1200" dirty="0">
                <a:solidFill>
                  <a:srgbClr val="C8C8C8"/>
                </a:solidFill>
                <a:latin typeface="Calibri" pitchFamily="34" charset="0"/>
                <a:ea typeface="Calibri" pitchFamily="34" charset="-122"/>
                <a:cs typeface="Calibri" pitchFamily="34" charset="-120"/>
              </a:rPr>
              <a:t>Is this a real problem? Who does it affect and why does it matter?</a:t>
            </a:r>
            <a:endParaRPr lang="en-US" sz="1200" dirty="0"/>
          </a:p>
        </p:txBody>
      </p:sp>
      <p:sp>
        <p:nvSpPr>
          <p:cNvPr id="10" name="Shape 7"/>
          <p:cNvSpPr/>
          <p:nvPr/>
        </p:nvSpPr>
        <p:spPr>
          <a:xfrm>
            <a:off x="4800600" y="1097280"/>
            <a:ext cx="3886200" cy="141732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8"/>
          <p:cNvSpPr/>
          <p:nvPr/>
        </p:nvSpPr>
        <p:spPr>
          <a:xfrm>
            <a:off x="4800600" y="1097280"/>
            <a:ext cx="45720" cy="1417320"/>
          </a:xfrm>
          <a:prstGeom prst="rect">
            <a:avLst/>
          </a:prstGeom>
          <a:solidFill>
            <a:srgbClr val="4A90D9"/>
          </a:solidFill>
          <a:ln/>
        </p:spPr>
        <p:txBody>
          <a:bodyPr/>
          <a:lstStyle/>
          <a:p>
            <a:endParaRPr lang="en-US"/>
          </a:p>
        </p:txBody>
      </p:sp>
      <p:sp>
        <p:nvSpPr>
          <p:cNvPr id="12" name="Text 9"/>
          <p:cNvSpPr/>
          <p:nvPr/>
        </p:nvSpPr>
        <p:spPr>
          <a:xfrm>
            <a:off x="4983480" y="1188720"/>
            <a:ext cx="2743200" cy="3200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Technical Execution</a:t>
            </a:r>
            <a:endParaRPr lang="en-US" sz="1800" dirty="0"/>
          </a:p>
        </p:txBody>
      </p:sp>
      <p:sp>
        <p:nvSpPr>
          <p:cNvPr id="13" name="Text 10"/>
          <p:cNvSpPr/>
          <p:nvPr/>
        </p:nvSpPr>
        <p:spPr>
          <a:xfrm>
            <a:off x="7543800" y="1188720"/>
            <a:ext cx="914400" cy="320040"/>
          </a:xfrm>
          <a:prstGeom prst="rect">
            <a:avLst/>
          </a:prstGeom>
          <a:noFill/>
          <a:ln/>
        </p:spPr>
        <p:txBody>
          <a:bodyPr wrap="square" lIns="0" tIns="0" rIns="0" bIns="0" rtlCol="0" anchor="ctr"/>
          <a:lstStyle/>
          <a:p>
            <a:pPr marL="0" indent="0" algn="r">
              <a:buNone/>
            </a:pPr>
            <a:r>
              <a:rPr lang="en-US" sz="1800" b="1" dirty="0">
                <a:solidFill>
                  <a:srgbClr val="4A90D9"/>
                </a:solidFill>
                <a:latin typeface="Calibri" pitchFamily="34" charset="0"/>
                <a:ea typeface="Calibri" pitchFamily="34" charset="-122"/>
                <a:cs typeface="Calibri" pitchFamily="34" charset="-120"/>
              </a:rPr>
              <a:t>30 pts</a:t>
            </a:r>
            <a:endParaRPr lang="en-US" sz="1800" dirty="0"/>
          </a:p>
        </p:txBody>
      </p:sp>
      <p:sp>
        <p:nvSpPr>
          <p:cNvPr id="14" name="Text 11"/>
          <p:cNvSpPr/>
          <p:nvPr/>
        </p:nvSpPr>
        <p:spPr>
          <a:xfrm>
            <a:off x="4983480" y="1600200"/>
            <a:ext cx="3566160" cy="822960"/>
          </a:xfrm>
          <a:prstGeom prst="rect">
            <a:avLst/>
          </a:prstGeom>
          <a:noFill/>
          <a:ln/>
        </p:spPr>
        <p:txBody>
          <a:bodyPr wrap="square" lIns="0" tIns="0" rIns="0" bIns="0" rtlCol="0" anchor="ctr"/>
          <a:lstStyle/>
          <a:p>
            <a:pPr marL="0" indent="0">
              <a:buNone/>
            </a:pPr>
            <a:r>
              <a:rPr lang="en-US" sz="1200" dirty="0">
                <a:solidFill>
                  <a:srgbClr val="C8C8C8"/>
                </a:solidFill>
                <a:latin typeface="Calibri" pitchFamily="34" charset="0"/>
                <a:ea typeface="Calibri" pitchFamily="34" charset="-122"/>
                <a:cs typeface="Calibri" pitchFamily="34" charset="-120"/>
              </a:rPr>
              <a:t>Does the core functionality work? Does it demonstrate the idea effectively using AI?</a:t>
            </a:r>
            <a:endParaRPr lang="en-US" sz="1200" dirty="0"/>
          </a:p>
        </p:txBody>
      </p:sp>
      <p:sp>
        <p:nvSpPr>
          <p:cNvPr id="15" name="Shape 12"/>
          <p:cNvSpPr/>
          <p:nvPr/>
        </p:nvSpPr>
        <p:spPr>
          <a:xfrm>
            <a:off x="457200" y="2788920"/>
            <a:ext cx="3886200" cy="141732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6" name="Shape 13"/>
          <p:cNvSpPr/>
          <p:nvPr/>
        </p:nvSpPr>
        <p:spPr>
          <a:xfrm>
            <a:off x="457200" y="2788920"/>
            <a:ext cx="45720" cy="1417320"/>
          </a:xfrm>
          <a:prstGeom prst="rect">
            <a:avLst/>
          </a:prstGeom>
          <a:solidFill>
            <a:srgbClr val="4CAF50"/>
          </a:solidFill>
          <a:ln/>
        </p:spPr>
        <p:txBody>
          <a:bodyPr/>
          <a:lstStyle/>
          <a:p>
            <a:endParaRPr lang="en-US"/>
          </a:p>
        </p:txBody>
      </p:sp>
      <p:sp>
        <p:nvSpPr>
          <p:cNvPr id="17" name="Text 14"/>
          <p:cNvSpPr/>
          <p:nvPr/>
        </p:nvSpPr>
        <p:spPr>
          <a:xfrm>
            <a:off x="640080" y="2880360"/>
            <a:ext cx="2743200" cy="3200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Ethical Alignment</a:t>
            </a:r>
            <a:endParaRPr lang="en-US" sz="1800" dirty="0"/>
          </a:p>
        </p:txBody>
      </p:sp>
      <p:sp>
        <p:nvSpPr>
          <p:cNvPr id="18" name="Text 15"/>
          <p:cNvSpPr/>
          <p:nvPr/>
        </p:nvSpPr>
        <p:spPr>
          <a:xfrm>
            <a:off x="3200400" y="2880360"/>
            <a:ext cx="914400" cy="320040"/>
          </a:xfrm>
          <a:prstGeom prst="rect">
            <a:avLst/>
          </a:prstGeom>
          <a:noFill/>
          <a:ln/>
        </p:spPr>
        <p:txBody>
          <a:bodyPr wrap="square" lIns="0" tIns="0" rIns="0" bIns="0" rtlCol="0" anchor="ctr"/>
          <a:lstStyle/>
          <a:p>
            <a:pPr marL="0" indent="0" algn="r">
              <a:buNone/>
            </a:pPr>
            <a:r>
              <a:rPr lang="en-US" sz="1800" b="1" dirty="0">
                <a:solidFill>
                  <a:srgbClr val="4CAF50"/>
                </a:solidFill>
                <a:latin typeface="Calibri" pitchFamily="34" charset="0"/>
                <a:ea typeface="Calibri" pitchFamily="34" charset="-122"/>
                <a:cs typeface="Calibri" pitchFamily="34" charset="-120"/>
              </a:rPr>
              <a:t>25 pts</a:t>
            </a:r>
            <a:endParaRPr lang="en-US" sz="1800" dirty="0"/>
          </a:p>
        </p:txBody>
      </p:sp>
      <p:sp>
        <p:nvSpPr>
          <p:cNvPr id="19" name="Text 16"/>
          <p:cNvSpPr/>
          <p:nvPr/>
        </p:nvSpPr>
        <p:spPr>
          <a:xfrm>
            <a:off x="640080" y="3291840"/>
            <a:ext cx="3566160" cy="822960"/>
          </a:xfrm>
          <a:prstGeom prst="rect">
            <a:avLst/>
          </a:prstGeom>
          <a:noFill/>
          <a:ln/>
        </p:spPr>
        <p:txBody>
          <a:bodyPr wrap="square" lIns="0" tIns="0" rIns="0" bIns="0" rtlCol="0" anchor="ctr"/>
          <a:lstStyle/>
          <a:p>
            <a:pPr marL="0" indent="0">
              <a:buNone/>
            </a:pPr>
            <a:r>
              <a:rPr lang="en-US" sz="1200" dirty="0">
                <a:solidFill>
                  <a:srgbClr val="C8C8C8"/>
                </a:solidFill>
                <a:latin typeface="Calibri" pitchFamily="34" charset="0"/>
                <a:ea typeface="Calibri" pitchFamily="34" charset="-122"/>
                <a:cs typeface="Calibri" pitchFamily="34" charset="-120"/>
              </a:rPr>
              <a:t>Did the team think seriously about potential harms? Does this empower people?</a:t>
            </a:r>
            <a:endParaRPr lang="en-US" sz="1200" dirty="0"/>
          </a:p>
        </p:txBody>
      </p:sp>
      <p:sp>
        <p:nvSpPr>
          <p:cNvPr id="20" name="Shape 17"/>
          <p:cNvSpPr/>
          <p:nvPr/>
        </p:nvSpPr>
        <p:spPr>
          <a:xfrm>
            <a:off x="4800600" y="2788920"/>
            <a:ext cx="3886200" cy="141732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21" name="Shape 18"/>
          <p:cNvSpPr/>
          <p:nvPr/>
        </p:nvSpPr>
        <p:spPr>
          <a:xfrm>
            <a:off x="4800600" y="2788920"/>
            <a:ext cx="45720" cy="1417320"/>
          </a:xfrm>
          <a:prstGeom prst="rect">
            <a:avLst/>
          </a:prstGeom>
          <a:solidFill>
            <a:srgbClr val="F5C842"/>
          </a:solidFill>
          <a:ln/>
        </p:spPr>
        <p:txBody>
          <a:bodyPr/>
          <a:lstStyle/>
          <a:p>
            <a:endParaRPr lang="en-US"/>
          </a:p>
        </p:txBody>
      </p:sp>
      <p:sp>
        <p:nvSpPr>
          <p:cNvPr id="22" name="Text 19"/>
          <p:cNvSpPr/>
          <p:nvPr/>
        </p:nvSpPr>
        <p:spPr>
          <a:xfrm>
            <a:off x="4983480" y="2880360"/>
            <a:ext cx="2743200" cy="3200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Presentation</a:t>
            </a:r>
            <a:endParaRPr lang="en-US" sz="1800" dirty="0"/>
          </a:p>
        </p:txBody>
      </p:sp>
      <p:sp>
        <p:nvSpPr>
          <p:cNvPr id="23" name="Text 20"/>
          <p:cNvSpPr/>
          <p:nvPr/>
        </p:nvSpPr>
        <p:spPr>
          <a:xfrm>
            <a:off x="7543800" y="2880360"/>
            <a:ext cx="914400" cy="320040"/>
          </a:xfrm>
          <a:prstGeom prst="rect">
            <a:avLst/>
          </a:prstGeom>
          <a:noFill/>
          <a:ln/>
        </p:spPr>
        <p:txBody>
          <a:bodyPr wrap="square" lIns="0" tIns="0" rIns="0" bIns="0" rtlCol="0" anchor="ctr"/>
          <a:lstStyle/>
          <a:p>
            <a:pPr marL="0" indent="0" algn="r">
              <a:buNone/>
            </a:pPr>
            <a:r>
              <a:rPr lang="en-US" sz="1800" b="1" dirty="0">
                <a:solidFill>
                  <a:srgbClr val="F5C842"/>
                </a:solidFill>
                <a:latin typeface="Calibri" pitchFamily="34" charset="0"/>
                <a:ea typeface="Calibri" pitchFamily="34" charset="-122"/>
                <a:cs typeface="Calibri" pitchFamily="34" charset="-120"/>
              </a:rPr>
              <a:t>20 pts</a:t>
            </a:r>
            <a:endParaRPr lang="en-US" sz="1800" dirty="0"/>
          </a:p>
        </p:txBody>
      </p:sp>
      <p:sp>
        <p:nvSpPr>
          <p:cNvPr id="24" name="Text 21"/>
          <p:cNvSpPr/>
          <p:nvPr/>
        </p:nvSpPr>
        <p:spPr>
          <a:xfrm>
            <a:off x="4983480" y="3291840"/>
            <a:ext cx="3566160" cy="822960"/>
          </a:xfrm>
          <a:prstGeom prst="rect">
            <a:avLst/>
          </a:prstGeom>
          <a:noFill/>
          <a:ln/>
        </p:spPr>
        <p:txBody>
          <a:bodyPr wrap="square" lIns="0" tIns="0" rIns="0" bIns="0" rtlCol="0" anchor="ctr"/>
          <a:lstStyle/>
          <a:p>
            <a:pPr marL="0" indent="0">
              <a:buNone/>
            </a:pPr>
            <a:r>
              <a:rPr lang="en-US" sz="1200" dirty="0">
                <a:solidFill>
                  <a:srgbClr val="C8C8C8"/>
                </a:solidFill>
                <a:latin typeface="Calibri" pitchFamily="34" charset="0"/>
                <a:ea typeface="Calibri" pitchFamily="34" charset="-122"/>
                <a:cs typeface="Calibri" pitchFamily="34" charset="-120"/>
              </a:rPr>
              <a:t>Can the team clearly explain what they built, why, and what they'd do next?</a:t>
            </a:r>
            <a:endParaRPr lang="en-US" sz="1200" dirty="0"/>
          </a:p>
        </p:txBody>
      </p:sp>
      <p:sp>
        <p:nvSpPr>
          <p:cNvPr id="25" name="Shape 22"/>
          <p:cNvSpPr/>
          <p:nvPr/>
        </p:nvSpPr>
        <p:spPr>
          <a:xfrm>
            <a:off x="0" y="4709160"/>
            <a:ext cx="9144000" cy="434340"/>
          </a:xfrm>
          <a:prstGeom prst="rect">
            <a:avLst/>
          </a:prstGeom>
          <a:solidFill>
            <a:srgbClr val="1E1E1E"/>
          </a:solidFill>
          <a:ln/>
        </p:spPr>
        <p:txBody>
          <a:bodyPr/>
          <a:lstStyle/>
          <a:p>
            <a:endParaRPr lang="en-US"/>
          </a:p>
        </p:txBody>
      </p:sp>
      <p:sp>
        <p:nvSpPr>
          <p:cNvPr id="26" name="Text 23"/>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21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3" name="Text 0"/>
          <p:cNvSpPr/>
          <p:nvPr/>
        </p:nvSpPr>
        <p:spPr>
          <a:xfrm>
            <a:off x="914400" y="228600"/>
            <a:ext cx="7315200" cy="502920"/>
          </a:xfrm>
          <a:prstGeom prst="rect">
            <a:avLst/>
          </a:prstGeom>
          <a:noFill/>
          <a:ln/>
        </p:spPr>
        <p:txBody>
          <a:bodyPr wrap="square" lIns="0" tIns="0" rIns="0" bIns="0" rtlCol="0" anchor="ctr"/>
          <a:lstStyle/>
          <a:p>
            <a:pPr marL="0" indent="0" algn="l">
              <a:buNone/>
            </a:pPr>
            <a:r>
              <a:rPr lang="en-US" sz="3200" b="1" dirty="0">
                <a:solidFill>
                  <a:srgbClr val="FFFFFF"/>
                </a:solidFill>
                <a:latin typeface="Arial Black" pitchFamily="34" charset="0"/>
                <a:ea typeface="Arial Black" pitchFamily="34" charset="-122"/>
                <a:cs typeface="Arial Black" pitchFamily="34" charset="-120"/>
              </a:rPr>
              <a:t>Go Viral, Win Big</a:t>
            </a:r>
            <a:endParaRPr lang="en-US" sz="3200" dirty="0"/>
          </a:p>
        </p:txBody>
      </p:sp>
      <p:sp>
        <p:nvSpPr>
          <p:cNvPr id="4" name="Text 1"/>
          <p:cNvSpPr/>
          <p:nvPr/>
        </p:nvSpPr>
        <p:spPr>
          <a:xfrm>
            <a:off x="914400" y="685800"/>
            <a:ext cx="7315200" cy="274320"/>
          </a:xfrm>
          <a:prstGeom prst="rect">
            <a:avLst/>
          </a:prstGeom>
          <a:noFill/>
          <a:ln/>
        </p:spPr>
        <p:txBody>
          <a:bodyPr wrap="square" lIns="0" tIns="0" rIns="0" bIns="0" rtlCol="0" anchor="ctr"/>
          <a:lstStyle/>
          <a:p>
            <a:pPr marL="0" indent="0" algn="l">
              <a:buNone/>
            </a:pPr>
            <a:r>
              <a:rPr lang="en-US" sz="1400" i="1" dirty="0">
                <a:solidFill>
                  <a:srgbClr val="F5C842"/>
                </a:solidFill>
                <a:latin typeface="Calibri" pitchFamily="34" charset="0"/>
                <a:ea typeface="Calibri" pitchFamily="34" charset="-122"/>
                <a:cs typeface="Calibri" pitchFamily="34" charset="-120"/>
              </a:rPr>
              <a:t>Sponsored by Tamagrow</a:t>
            </a:r>
            <a:endParaRPr lang="en-US" sz="1400" dirty="0"/>
          </a:p>
        </p:txBody>
      </p:sp>
      <p:sp>
        <p:nvSpPr>
          <p:cNvPr id="5" name="Shape 2"/>
          <p:cNvSpPr>
            <a:spLocks noGrp="1" noRot="1" noMove="1" noResize="1" noEditPoints="1" noAdjustHandles="1" noChangeArrowheads="1" noChangeShapeType="1"/>
          </p:cNvSpPr>
          <p:nvPr/>
        </p:nvSpPr>
        <p:spPr>
          <a:xfrm>
            <a:off x="914400" y="992688"/>
            <a:ext cx="7315200" cy="3487872"/>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6" name="Shape 3"/>
          <p:cNvSpPr/>
          <p:nvPr/>
        </p:nvSpPr>
        <p:spPr>
          <a:xfrm>
            <a:off x="914400" y="946968"/>
            <a:ext cx="7315200" cy="45720"/>
          </a:xfrm>
          <a:prstGeom prst="rect">
            <a:avLst/>
          </a:prstGeom>
          <a:solidFill>
            <a:srgbClr val="F5C842"/>
          </a:solidFill>
          <a:ln/>
        </p:spPr>
        <p:txBody>
          <a:bodyPr/>
          <a:lstStyle/>
          <a:p>
            <a:endParaRPr lang="en-US"/>
          </a:p>
        </p:txBody>
      </p:sp>
      <p:sp>
        <p:nvSpPr>
          <p:cNvPr id="7" name="Text 4"/>
          <p:cNvSpPr/>
          <p:nvPr/>
        </p:nvSpPr>
        <p:spPr>
          <a:xfrm>
            <a:off x="1188720" y="930997"/>
            <a:ext cx="6766560" cy="548640"/>
          </a:xfrm>
          <a:prstGeom prst="rect">
            <a:avLst/>
          </a:prstGeom>
          <a:noFill/>
          <a:ln/>
        </p:spPr>
        <p:txBody>
          <a:bodyPr wrap="square" lIns="0" tIns="0" rIns="0" bIns="0" rtlCol="0" anchor="ctr"/>
          <a:lstStyle/>
          <a:p>
            <a:pPr marL="0" indent="0" algn="ctr">
              <a:buNone/>
            </a:pPr>
            <a:r>
              <a:rPr lang="en-US" sz="2800" b="1" dirty="0">
                <a:solidFill>
                  <a:srgbClr val="F5C842"/>
                </a:solidFill>
                <a:latin typeface="Arial Black" pitchFamily="34" charset="0"/>
                <a:ea typeface="Arial Black" pitchFamily="34" charset="-122"/>
                <a:cs typeface="Arial Black" pitchFamily="34" charset="-120"/>
              </a:rPr>
              <a:t>Most Viral Hackathon Post</a:t>
            </a:r>
            <a:endParaRPr lang="en-US" sz="2800" dirty="0"/>
          </a:p>
        </p:txBody>
      </p:sp>
      <p:sp>
        <p:nvSpPr>
          <p:cNvPr id="8" name="Text 5"/>
          <p:cNvSpPr/>
          <p:nvPr/>
        </p:nvSpPr>
        <p:spPr>
          <a:xfrm>
            <a:off x="1188720" y="1439241"/>
            <a:ext cx="6766560" cy="365760"/>
          </a:xfrm>
          <a:prstGeom prst="rect">
            <a:avLst/>
          </a:prstGeom>
          <a:noFill/>
          <a:ln/>
        </p:spPr>
        <p:txBody>
          <a:bodyPr wrap="square" lIns="0" tIns="0" rIns="0" bIns="0" rtlCol="0" anchor="ctr"/>
          <a:lstStyle/>
          <a:p>
            <a:pPr marL="0" indent="0" algn="ctr">
              <a:buNone/>
            </a:pPr>
            <a:r>
              <a:rPr lang="en-US" sz="1400" dirty="0">
                <a:solidFill>
                  <a:srgbClr val="C8C8C8"/>
                </a:solidFill>
                <a:latin typeface="Calibri" pitchFamily="34" charset="0"/>
                <a:ea typeface="Calibri" pitchFamily="34" charset="-122"/>
                <a:cs typeface="Calibri" pitchFamily="34" charset="-120"/>
              </a:rPr>
              <a:t>Post about your hackathon experience on any platform — X, LinkedIn, TikTok, Instagram, or anything else.</a:t>
            </a:r>
            <a:endParaRPr lang="en-US" sz="1400" dirty="0"/>
          </a:p>
        </p:txBody>
      </p:sp>
      <p:sp>
        <p:nvSpPr>
          <p:cNvPr id="9" name="Shape 6"/>
          <p:cNvSpPr/>
          <p:nvPr/>
        </p:nvSpPr>
        <p:spPr>
          <a:xfrm>
            <a:off x="1188720" y="2896644"/>
            <a:ext cx="2743200" cy="822960"/>
          </a:xfrm>
          <a:prstGeom prst="rect">
            <a:avLst/>
          </a:prstGeom>
          <a:solidFill>
            <a:srgbClr val="2A2A2A"/>
          </a:solidFill>
          <a:ln/>
        </p:spPr>
        <p:txBody>
          <a:bodyPr/>
          <a:lstStyle/>
          <a:p>
            <a:endParaRPr lang="en-US"/>
          </a:p>
        </p:txBody>
      </p:sp>
      <p:sp>
        <p:nvSpPr>
          <p:cNvPr id="11" name="Shape 8"/>
          <p:cNvSpPr/>
          <p:nvPr/>
        </p:nvSpPr>
        <p:spPr>
          <a:xfrm>
            <a:off x="1188720" y="2010741"/>
            <a:ext cx="2743200" cy="822960"/>
          </a:xfrm>
          <a:prstGeom prst="rect">
            <a:avLst/>
          </a:prstGeom>
          <a:solidFill>
            <a:srgbClr val="2A2A2A"/>
          </a:solidFill>
          <a:ln/>
        </p:spPr>
        <p:txBody>
          <a:bodyPr/>
          <a:lstStyle/>
          <a:p>
            <a:endParaRPr lang="en-US"/>
          </a:p>
        </p:txBody>
      </p:sp>
      <p:sp>
        <p:nvSpPr>
          <p:cNvPr id="12" name="Text 9"/>
          <p:cNvSpPr/>
          <p:nvPr/>
        </p:nvSpPr>
        <p:spPr>
          <a:xfrm>
            <a:off x="1188720" y="2933909"/>
            <a:ext cx="2743200" cy="777240"/>
          </a:xfrm>
          <a:prstGeom prst="rect">
            <a:avLst/>
          </a:prstGeom>
          <a:noFill/>
          <a:ln/>
        </p:spPr>
        <p:txBody>
          <a:bodyPr wrap="square" lIns="0" tIns="0" rIns="0" bIns="0" rtlCol="0" anchor="ctr"/>
          <a:lstStyle/>
          <a:p>
            <a:pPr marL="0" indent="0" algn="ctr">
              <a:buNone/>
            </a:pPr>
            <a:r>
              <a:rPr lang="en-US" sz="1600" b="1" dirty="0">
                <a:solidFill>
                  <a:srgbClr val="E07B3C"/>
                </a:solidFill>
                <a:latin typeface="Calibri" pitchFamily="34" charset="0"/>
                <a:ea typeface="Calibri" pitchFamily="34" charset="-122"/>
                <a:cs typeface="Calibri" pitchFamily="34" charset="-120"/>
              </a:rPr>
              <a:t>2nd Place</a:t>
            </a:r>
            <a:endParaRPr lang="en-US" sz="1600" dirty="0"/>
          </a:p>
          <a:p>
            <a:pPr marL="0" indent="0" algn="ctr">
              <a:buNone/>
            </a:pPr>
            <a:r>
              <a:rPr lang="en-US" sz="1300" dirty="0">
                <a:solidFill>
                  <a:srgbClr val="C8C8C8"/>
                </a:solidFill>
                <a:latin typeface="Calibri" pitchFamily="34" charset="0"/>
                <a:ea typeface="Calibri" pitchFamily="34" charset="-122"/>
                <a:cs typeface="Calibri" pitchFamily="34" charset="-120"/>
              </a:rPr>
              <a:t>Monitor</a:t>
            </a:r>
            <a:endParaRPr lang="en-US" sz="1600" dirty="0"/>
          </a:p>
        </p:txBody>
      </p:sp>
      <p:sp>
        <p:nvSpPr>
          <p:cNvPr id="13" name="Text 10"/>
          <p:cNvSpPr/>
          <p:nvPr/>
        </p:nvSpPr>
        <p:spPr>
          <a:xfrm>
            <a:off x="1188720" y="3771900"/>
            <a:ext cx="6766560" cy="457200"/>
          </a:xfrm>
          <a:prstGeom prst="rect">
            <a:avLst/>
          </a:prstGeom>
          <a:noFill/>
          <a:ln/>
        </p:spPr>
        <p:txBody>
          <a:bodyPr wrap="square" lIns="0" tIns="0" rIns="0" bIns="0" rtlCol="0" anchor="ctr"/>
          <a:lstStyle/>
          <a:p>
            <a:pPr marL="0" indent="0" algn="ctr">
              <a:buNone/>
            </a:pPr>
            <a:r>
              <a:rPr lang="en-US" sz="1200" dirty="0">
                <a:solidFill>
                  <a:srgbClr val="C8C8C8"/>
                </a:solidFill>
                <a:latin typeface="Calibri" pitchFamily="34" charset="0"/>
                <a:ea typeface="Calibri" pitchFamily="34" charset="-122"/>
                <a:cs typeface="Calibri" pitchFamily="34" charset="-120"/>
              </a:rPr>
              <a:t>Top 2 people with the most viral posts win these prizes. You can optionally use Tamagrow's platform, but any platform counts.</a:t>
            </a:r>
            <a:endParaRPr lang="en-US" sz="1200" dirty="0"/>
          </a:p>
        </p:txBody>
      </p:sp>
      <p:sp>
        <p:nvSpPr>
          <p:cNvPr id="14" name="Text 11"/>
          <p:cNvSpPr/>
          <p:nvPr/>
        </p:nvSpPr>
        <p:spPr>
          <a:xfrm>
            <a:off x="1371600" y="4137660"/>
            <a:ext cx="6400800" cy="320040"/>
          </a:xfrm>
          <a:prstGeom prst="rect">
            <a:avLst/>
          </a:prstGeom>
          <a:noFill/>
          <a:ln/>
        </p:spPr>
        <p:txBody>
          <a:bodyPr wrap="square" lIns="0" tIns="0" rIns="0" bIns="0" rtlCol="0" anchor="ctr"/>
          <a:lstStyle/>
          <a:p>
            <a:pPr marL="0" indent="0" algn="ctr">
              <a:buNone/>
            </a:pPr>
            <a:r>
              <a:rPr lang="en-US" sz="1100" i="1" dirty="0">
                <a:solidFill>
                  <a:srgbClr val="E05D5D"/>
                </a:solidFill>
                <a:latin typeface="Calibri" pitchFamily="34" charset="0"/>
                <a:ea typeface="Calibri" pitchFamily="34" charset="-122"/>
                <a:cs typeface="Calibri" pitchFamily="34" charset="-120"/>
              </a:rPr>
              <a:t>If no one reaches 1,000+ engagement, prizes will be reallocated to the Grand Prize pool.</a:t>
            </a:r>
            <a:endParaRPr lang="en-US" sz="1100" dirty="0"/>
          </a:p>
        </p:txBody>
      </p:sp>
      <p:sp>
        <p:nvSpPr>
          <p:cNvPr id="15" name="Shape 12"/>
          <p:cNvSpPr/>
          <p:nvPr/>
        </p:nvSpPr>
        <p:spPr>
          <a:xfrm>
            <a:off x="86061" y="4709943"/>
            <a:ext cx="9144000" cy="434340"/>
          </a:xfrm>
          <a:prstGeom prst="rect">
            <a:avLst/>
          </a:prstGeom>
          <a:solidFill>
            <a:srgbClr val="1E1E1E"/>
          </a:solidFill>
          <a:ln/>
        </p:spPr>
        <p:txBody>
          <a:bodyPr/>
          <a:lstStyle/>
          <a:p>
            <a:endParaRPr lang="en-US"/>
          </a:p>
        </p:txBody>
      </p:sp>
      <p:sp>
        <p:nvSpPr>
          <p:cNvPr id="16" name="Text 13"/>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
        <p:nvSpPr>
          <p:cNvPr id="10" name="Text 7"/>
          <p:cNvSpPr/>
          <p:nvPr/>
        </p:nvSpPr>
        <p:spPr>
          <a:xfrm>
            <a:off x="1188720" y="2038925"/>
            <a:ext cx="2743200" cy="777240"/>
          </a:xfrm>
          <a:prstGeom prst="rect">
            <a:avLst/>
          </a:prstGeom>
          <a:noFill/>
          <a:ln/>
        </p:spPr>
        <p:txBody>
          <a:bodyPr wrap="square" lIns="0" tIns="0" rIns="0" bIns="0" rtlCol="0" anchor="ctr"/>
          <a:lstStyle/>
          <a:p>
            <a:pPr marL="0" indent="0" algn="ctr">
              <a:buNone/>
            </a:pPr>
            <a:r>
              <a:rPr lang="en-US" sz="1600" b="1" dirty="0">
                <a:solidFill>
                  <a:srgbClr val="F5C842"/>
                </a:solidFill>
                <a:latin typeface="Calibri" pitchFamily="34" charset="0"/>
                <a:ea typeface="Calibri" pitchFamily="34" charset="-122"/>
                <a:cs typeface="Calibri" pitchFamily="34" charset="-120"/>
              </a:rPr>
              <a:t>1st Place</a:t>
            </a:r>
            <a:endParaRPr lang="en-US" sz="1600" dirty="0"/>
          </a:p>
          <a:p>
            <a:pPr marL="0" indent="0" algn="ctr">
              <a:buNone/>
            </a:pPr>
            <a:r>
              <a:rPr lang="en-US" sz="1300" dirty="0">
                <a:solidFill>
                  <a:srgbClr val="C8C8C8"/>
                </a:solidFill>
                <a:latin typeface="Calibri" pitchFamily="34" charset="0"/>
                <a:ea typeface="Calibri" pitchFamily="34" charset="-122"/>
                <a:cs typeface="Calibri" pitchFamily="34" charset="-120"/>
              </a:rPr>
              <a:t>Keychron K4 Keyboard</a:t>
            </a:r>
            <a:endParaRPr lang="en-US" sz="1600" dirty="0"/>
          </a:p>
        </p:txBody>
      </p:sp>
      <p:pic>
        <p:nvPicPr>
          <p:cNvPr id="18" name="Picture 17">
            <a:extLst>
              <a:ext uri="{FF2B5EF4-FFF2-40B4-BE49-F238E27FC236}">
                <a16:creationId xmlns:a16="http://schemas.microsoft.com/office/drawing/2014/main" id="{1A1E4CD5-5BB7-AD12-501E-9F6F592726DB}"/>
              </a:ext>
            </a:extLst>
          </p:cNvPr>
          <p:cNvPicPr>
            <a:picLocks noChangeAspect="1"/>
          </p:cNvPicPr>
          <p:nvPr/>
        </p:nvPicPr>
        <p:blipFill>
          <a:blip r:embed="rId4"/>
          <a:stretch>
            <a:fillRect/>
          </a:stretch>
        </p:blipFill>
        <p:spPr>
          <a:xfrm>
            <a:off x="5408196" y="2001705"/>
            <a:ext cx="1706905" cy="17069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21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3" name="Text 0"/>
          <p:cNvSpPr/>
          <p:nvPr/>
        </p:nvSpPr>
        <p:spPr>
          <a:xfrm>
            <a:off x="914400" y="228600"/>
            <a:ext cx="7315200" cy="502920"/>
          </a:xfrm>
          <a:prstGeom prst="rect">
            <a:avLst/>
          </a:prstGeom>
          <a:noFill/>
          <a:ln/>
        </p:spPr>
        <p:txBody>
          <a:bodyPr wrap="square" lIns="0" tIns="0" rIns="0" bIns="0" rtlCol="0" anchor="ctr"/>
          <a:lstStyle/>
          <a:p>
            <a:pPr marL="0" indent="0" algn="l">
              <a:buNone/>
            </a:pPr>
            <a:r>
              <a:rPr lang="en-US" sz="3200" b="1" dirty="0">
                <a:solidFill>
                  <a:srgbClr val="FFFFFF"/>
                </a:solidFill>
                <a:latin typeface="Arial Black" pitchFamily="34" charset="0"/>
                <a:ea typeface="Arial Black" pitchFamily="34" charset="-122"/>
                <a:cs typeface="Arial Black" pitchFamily="34" charset="-120"/>
              </a:rPr>
              <a:t>Prizes &amp; Opportunities</a:t>
            </a:r>
            <a:endParaRPr lang="en-US" sz="3200" dirty="0"/>
          </a:p>
        </p:txBody>
      </p:sp>
      <p:sp>
        <p:nvSpPr>
          <p:cNvPr id="4" name="Shape 1"/>
          <p:cNvSpPr/>
          <p:nvPr/>
        </p:nvSpPr>
        <p:spPr>
          <a:xfrm>
            <a:off x="457200" y="1005840"/>
            <a:ext cx="8229600" cy="128016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5" name="Shape 2"/>
          <p:cNvSpPr/>
          <p:nvPr/>
        </p:nvSpPr>
        <p:spPr>
          <a:xfrm>
            <a:off x="457200" y="1005840"/>
            <a:ext cx="8229600" cy="45720"/>
          </a:xfrm>
          <a:prstGeom prst="rect">
            <a:avLst/>
          </a:prstGeom>
          <a:solidFill>
            <a:srgbClr val="F5C842"/>
          </a:solidFill>
          <a:ln/>
        </p:spPr>
        <p:txBody>
          <a:bodyPr/>
          <a:lstStyle/>
          <a:p>
            <a:endParaRPr lang="en-US"/>
          </a:p>
        </p:txBody>
      </p:sp>
      <p:sp>
        <p:nvSpPr>
          <p:cNvPr id="6" name="Text 3"/>
          <p:cNvSpPr/>
          <p:nvPr/>
        </p:nvSpPr>
        <p:spPr>
          <a:xfrm>
            <a:off x="731520" y="1143000"/>
            <a:ext cx="7680960" cy="411480"/>
          </a:xfrm>
          <a:prstGeom prst="rect">
            <a:avLst/>
          </a:prstGeom>
          <a:noFill/>
          <a:ln/>
        </p:spPr>
        <p:txBody>
          <a:bodyPr wrap="square" lIns="0" tIns="0" rIns="0" bIns="0" rtlCol="0" anchor="ctr"/>
          <a:lstStyle/>
          <a:p>
            <a:pPr marL="0" indent="0" algn="ctr">
              <a:buNone/>
            </a:pPr>
            <a:r>
              <a:rPr lang="en-US" sz="2200" b="1" dirty="0">
                <a:solidFill>
                  <a:srgbClr val="F5C842"/>
                </a:solidFill>
                <a:latin typeface="Calibri" pitchFamily="34" charset="0"/>
                <a:ea typeface="Calibri" pitchFamily="34" charset="-122"/>
                <a:cs typeface="Calibri" pitchFamily="34" charset="-120"/>
              </a:rPr>
              <a:t>1 Winning Team Per Track</a:t>
            </a:r>
            <a:endParaRPr lang="en-US" sz="2200" dirty="0"/>
          </a:p>
        </p:txBody>
      </p:sp>
      <p:sp>
        <p:nvSpPr>
          <p:cNvPr id="7" name="Shape 4"/>
          <p:cNvSpPr/>
          <p:nvPr/>
        </p:nvSpPr>
        <p:spPr>
          <a:xfrm>
            <a:off x="914400" y="1645920"/>
            <a:ext cx="3429000" cy="502920"/>
          </a:xfrm>
          <a:prstGeom prst="rect">
            <a:avLst/>
          </a:prstGeom>
          <a:solidFill>
            <a:srgbClr val="2A2A2A"/>
          </a:solidFill>
          <a:ln/>
        </p:spPr>
        <p:txBody>
          <a:bodyPr/>
          <a:lstStyle/>
          <a:p>
            <a:endParaRPr lang="en-US"/>
          </a:p>
        </p:txBody>
      </p:sp>
      <p:sp>
        <p:nvSpPr>
          <p:cNvPr id="8" name="Text 5"/>
          <p:cNvSpPr/>
          <p:nvPr/>
        </p:nvSpPr>
        <p:spPr>
          <a:xfrm>
            <a:off x="914400" y="1645920"/>
            <a:ext cx="3429000" cy="502920"/>
          </a:xfrm>
          <a:prstGeom prst="rect">
            <a:avLst/>
          </a:prstGeom>
          <a:noFill/>
          <a:ln/>
        </p:spPr>
        <p:txBody>
          <a:bodyPr wrap="square" lIns="0" tIns="0" rIns="0" bIns="0" rtlCol="0" anchor="ctr"/>
          <a:lstStyle/>
          <a:p>
            <a:pPr marL="0" indent="0" algn="ctr">
              <a:buNone/>
            </a:pPr>
            <a:r>
              <a:rPr lang="en-US" sz="1600" b="1" dirty="0">
                <a:solidFill>
                  <a:srgbClr val="4CAF50"/>
                </a:solidFill>
                <a:latin typeface="Calibri" pitchFamily="34" charset="0"/>
                <a:ea typeface="Calibri" pitchFamily="34" charset="-122"/>
                <a:cs typeface="Calibri" pitchFamily="34" charset="-120"/>
              </a:rPr>
              <a:t>$300 in API Credits</a:t>
            </a:r>
            <a:endParaRPr lang="en-US" sz="1600" dirty="0"/>
          </a:p>
        </p:txBody>
      </p:sp>
      <p:sp>
        <p:nvSpPr>
          <p:cNvPr id="9" name="Shape 6"/>
          <p:cNvSpPr/>
          <p:nvPr/>
        </p:nvSpPr>
        <p:spPr>
          <a:xfrm>
            <a:off x="4800600" y="1645920"/>
            <a:ext cx="3429000" cy="502920"/>
          </a:xfrm>
          <a:prstGeom prst="rect">
            <a:avLst/>
          </a:prstGeom>
          <a:solidFill>
            <a:srgbClr val="2A2A2A"/>
          </a:solidFill>
          <a:ln/>
        </p:spPr>
        <p:txBody>
          <a:bodyPr/>
          <a:lstStyle/>
          <a:p>
            <a:endParaRPr lang="en-US"/>
          </a:p>
        </p:txBody>
      </p:sp>
      <p:sp>
        <p:nvSpPr>
          <p:cNvPr id="10" name="Text 7"/>
          <p:cNvSpPr/>
          <p:nvPr/>
        </p:nvSpPr>
        <p:spPr>
          <a:xfrm>
            <a:off x="4800600" y="1645920"/>
            <a:ext cx="3429000" cy="502920"/>
          </a:xfrm>
          <a:prstGeom prst="rect">
            <a:avLst/>
          </a:prstGeom>
          <a:noFill/>
          <a:ln/>
        </p:spPr>
        <p:txBody>
          <a:bodyPr wrap="square" lIns="0" tIns="0" rIns="0" bIns="0" rtlCol="0" anchor="ctr"/>
          <a:lstStyle/>
          <a:p>
            <a:pPr marL="0" indent="0" algn="ctr">
              <a:buNone/>
            </a:pPr>
            <a:r>
              <a:rPr lang="en-US" sz="1400" b="1" dirty="0">
                <a:solidFill>
                  <a:srgbClr val="2CB1A4"/>
                </a:solidFill>
                <a:latin typeface="Calibri" pitchFamily="34" charset="0"/>
                <a:ea typeface="Calibri" pitchFamily="34" charset="-122"/>
                <a:cs typeface="Calibri" pitchFamily="34" charset="-120"/>
              </a:rPr>
              <a:t>Interview Pool for Sponsor Startups</a:t>
            </a:r>
            <a:endParaRPr lang="en-US" sz="1400" dirty="0"/>
          </a:p>
        </p:txBody>
      </p:sp>
      <p:sp>
        <p:nvSpPr>
          <p:cNvPr id="11" name="Text 8"/>
          <p:cNvSpPr/>
          <p:nvPr/>
        </p:nvSpPr>
        <p:spPr>
          <a:xfrm>
            <a:off x="457200" y="2560320"/>
            <a:ext cx="82296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Tracks:</a:t>
            </a:r>
            <a:endParaRPr lang="en-US" sz="1600" dirty="0"/>
          </a:p>
        </p:txBody>
      </p:sp>
      <p:sp>
        <p:nvSpPr>
          <p:cNvPr id="12" name="Shape 9"/>
          <p:cNvSpPr/>
          <p:nvPr/>
        </p:nvSpPr>
        <p:spPr>
          <a:xfrm>
            <a:off x="640080" y="2990088"/>
            <a:ext cx="164592" cy="164592"/>
          </a:xfrm>
          <a:prstGeom prst="ellipse">
            <a:avLst/>
          </a:prstGeom>
          <a:solidFill>
            <a:srgbClr val="E05D5D"/>
          </a:solidFill>
          <a:ln/>
        </p:spPr>
        <p:txBody>
          <a:bodyPr/>
          <a:lstStyle/>
          <a:p>
            <a:endParaRPr lang="en-US"/>
          </a:p>
        </p:txBody>
      </p:sp>
      <p:sp>
        <p:nvSpPr>
          <p:cNvPr id="13" name="Text 10"/>
          <p:cNvSpPr/>
          <p:nvPr/>
        </p:nvSpPr>
        <p:spPr>
          <a:xfrm>
            <a:off x="960120" y="2926080"/>
            <a:ext cx="7315200" cy="292608"/>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Track 1: Biology &amp; Physical / Mental Health</a:t>
            </a:r>
            <a:endParaRPr lang="en-US" sz="1400" dirty="0"/>
          </a:p>
        </p:txBody>
      </p:sp>
      <p:sp>
        <p:nvSpPr>
          <p:cNvPr id="14" name="Shape 11"/>
          <p:cNvSpPr/>
          <p:nvPr/>
        </p:nvSpPr>
        <p:spPr>
          <a:xfrm>
            <a:off x="640080" y="3337560"/>
            <a:ext cx="164592" cy="164592"/>
          </a:xfrm>
          <a:prstGeom prst="ellipse">
            <a:avLst/>
          </a:prstGeom>
          <a:solidFill>
            <a:srgbClr val="4A90D9"/>
          </a:solidFill>
          <a:ln/>
        </p:spPr>
        <p:txBody>
          <a:bodyPr/>
          <a:lstStyle/>
          <a:p>
            <a:endParaRPr lang="en-US"/>
          </a:p>
        </p:txBody>
      </p:sp>
      <p:sp>
        <p:nvSpPr>
          <p:cNvPr id="15" name="Text 12"/>
          <p:cNvSpPr/>
          <p:nvPr/>
        </p:nvSpPr>
        <p:spPr>
          <a:xfrm>
            <a:off x="960120" y="3273552"/>
            <a:ext cx="7315200" cy="292608"/>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Track 2: AI Tooling</a:t>
            </a:r>
            <a:endParaRPr lang="en-US" sz="1400" dirty="0"/>
          </a:p>
        </p:txBody>
      </p:sp>
      <p:sp>
        <p:nvSpPr>
          <p:cNvPr id="16" name="Shape 13"/>
          <p:cNvSpPr/>
          <p:nvPr/>
        </p:nvSpPr>
        <p:spPr>
          <a:xfrm>
            <a:off x="640080" y="3685032"/>
            <a:ext cx="164592" cy="164592"/>
          </a:xfrm>
          <a:prstGeom prst="ellipse">
            <a:avLst/>
          </a:prstGeom>
          <a:solidFill>
            <a:srgbClr val="4CAF50"/>
          </a:solidFill>
          <a:ln/>
        </p:spPr>
        <p:txBody>
          <a:bodyPr/>
          <a:lstStyle/>
          <a:p>
            <a:endParaRPr lang="en-US"/>
          </a:p>
        </p:txBody>
      </p:sp>
      <p:sp>
        <p:nvSpPr>
          <p:cNvPr id="17" name="Text 14"/>
          <p:cNvSpPr/>
          <p:nvPr/>
        </p:nvSpPr>
        <p:spPr>
          <a:xfrm>
            <a:off x="960120" y="3621024"/>
            <a:ext cx="7315200" cy="292608"/>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Track 3: Economic Empowerment &amp; Education</a:t>
            </a:r>
            <a:endParaRPr lang="en-US" sz="1400" dirty="0"/>
          </a:p>
        </p:txBody>
      </p:sp>
      <p:sp>
        <p:nvSpPr>
          <p:cNvPr id="18" name="Shape 15"/>
          <p:cNvSpPr/>
          <p:nvPr/>
        </p:nvSpPr>
        <p:spPr>
          <a:xfrm>
            <a:off x="640080" y="4032504"/>
            <a:ext cx="164592" cy="164592"/>
          </a:xfrm>
          <a:prstGeom prst="ellipse">
            <a:avLst/>
          </a:prstGeom>
          <a:solidFill>
            <a:srgbClr val="E07B3C"/>
          </a:solidFill>
          <a:ln/>
        </p:spPr>
        <p:txBody>
          <a:bodyPr/>
          <a:lstStyle/>
          <a:p>
            <a:endParaRPr lang="en-US"/>
          </a:p>
        </p:txBody>
      </p:sp>
      <p:sp>
        <p:nvSpPr>
          <p:cNvPr id="19" name="Text 16"/>
          <p:cNvSpPr/>
          <p:nvPr/>
        </p:nvSpPr>
        <p:spPr>
          <a:xfrm>
            <a:off x="960120" y="3968496"/>
            <a:ext cx="7315200" cy="292608"/>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Track 4: Governance &amp; Collaboration</a:t>
            </a:r>
            <a:endParaRPr lang="en-US" sz="1400" dirty="0"/>
          </a:p>
        </p:txBody>
      </p:sp>
      <p:sp>
        <p:nvSpPr>
          <p:cNvPr id="20" name="Shape 17"/>
          <p:cNvSpPr/>
          <p:nvPr/>
        </p:nvSpPr>
        <p:spPr>
          <a:xfrm>
            <a:off x="640080" y="4379976"/>
            <a:ext cx="164592" cy="164592"/>
          </a:xfrm>
          <a:prstGeom prst="ellipse">
            <a:avLst/>
          </a:prstGeom>
          <a:solidFill>
            <a:srgbClr val="E05D5D"/>
          </a:solidFill>
          <a:ln/>
        </p:spPr>
        <p:txBody>
          <a:bodyPr/>
          <a:lstStyle/>
          <a:p>
            <a:endParaRPr lang="en-US"/>
          </a:p>
        </p:txBody>
      </p:sp>
      <p:sp>
        <p:nvSpPr>
          <p:cNvPr id="21" name="Text 18"/>
          <p:cNvSpPr/>
          <p:nvPr/>
        </p:nvSpPr>
        <p:spPr>
          <a:xfrm>
            <a:off x="960120" y="4315968"/>
            <a:ext cx="7315200" cy="292608"/>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Track 5: Creative Flourishing</a:t>
            </a:r>
            <a:endParaRPr lang="en-US" sz="1400" dirty="0"/>
          </a:p>
        </p:txBody>
      </p:sp>
      <p:sp>
        <p:nvSpPr>
          <p:cNvPr id="22" name="Shape 19"/>
          <p:cNvSpPr/>
          <p:nvPr/>
        </p:nvSpPr>
        <p:spPr>
          <a:xfrm>
            <a:off x="0" y="4709160"/>
            <a:ext cx="9144000" cy="434340"/>
          </a:xfrm>
          <a:prstGeom prst="rect">
            <a:avLst/>
          </a:prstGeom>
          <a:solidFill>
            <a:srgbClr val="1E1E1E"/>
          </a:solidFill>
          <a:ln/>
        </p:spPr>
        <p:txBody>
          <a:bodyPr/>
          <a:lstStyle/>
          <a:p>
            <a:endParaRPr lang="en-US"/>
          </a:p>
        </p:txBody>
      </p:sp>
      <p:sp>
        <p:nvSpPr>
          <p:cNvPr id="23" name="Text 20"/>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21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74320"/>
            <a:ext cx="365760" cy="365760"/>
          </a:xfrm>
          <a:prstGeom prst="rect">
            <a:avLst/>
          </a:prstGeom>
        </p:spPr>
      </p:pic>
      <p:sp>
        <p:nvSpPr>
          <p:cNvPr id="3" name="Text 0"/>
          <p:cNvSpPr/>
          <p:nvPr/>
        </p:nvSpPr>
        <p:spPr>
          <a:xfrm>
            <a:off x="914400" y="228600"/>
            <a:ext cx="7315200" cy="502920"/>
          </a:xfrm>
          <a:prstGeom prst="rect">
            <a:avLst/>
          </a:prstGeom>
          <a:noFill/>
          <a:ln/>
        </p:spPr>
        <p:txBody>
          <a:bodyPr wrap="square" lIns="0" tIns="0" rIns="0" bIns="0" rtlCol="0" anchor="ctr"/>
          <a:lstStyle/>
          <a:p>
            <a:pPr marL="0" indent="0" algn="l">
              <a:buNone/>
            </a:pPr>
            <a:r>
              <a:rPr lang="en-US" sz="3200" b="1" dirty="0">
                <a:solidFill>
                  <a:srgbClr val="FFFFFF"/>
                </a:solidFill>
                <a:latin typeface="Arial Black" pitchFamily="34" charset="0"/>
                <a:ea typeface="Arial Black" pitchFamily="34" charset="-122"/>
                <a:cs typeface="Arial Black" pitchFamily="34" charset="-120"/>
              </a:rPr>
              <a:t>Free Resources</a:t>
            </a:r>
            <a:endParaRPr lang="en-US" sz="3200" dirty="0"/>
          </a:p>
        </p:txBody>
      </p:sp>
      <p:sp>
        <p:nvSpPr>
          <p:cNvPr id="4" name="Shape 1"/>
          <p:cNvSpPr/>
          <p:nvPr/>
        </p:nvSpPr>
        <p:spPr>
          <a:xfrm>
            <a:off x="457200" y="1005840"/>
            <a:ext cx="8229600" cy="164592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5" name="Shape 2"/>
          <p:cNvSpPr/>
          <p:nvPr/>
        </p:nvSpPr>
        <p:spPr>
          <a:xfrm>
            <a:off x="457200" y="1005840"/>
            <a:ext cx="45720" cy="1645920"/>
          </a:xfrm>
          <a:prstGeom prst="rect">
            <a:avLst/>
          </a:prstGeom>
          <a:solidFill>
            <a:srgbClr val="2CB1A4"/>
          </a:solidFill>
          <a:ln/>
        </p:spPr>
        <p:txBody>
          <a:bodyPr/>
          <a:lstStyle/>
          <a:p>
            <a:endParaRPr lang="en-US"/>
          </a:p>
        </p:txBody>
      </p:sp>
      <p:sp>
        <p:nvSpPr>
          <p:cNvPr id="6" name="Text 3"/>
          <p:cNvSpPr/>
          <p:nvPr/>
        </p:nvSpPr>
        <p:spPr>
          <a:xfrm>
            <a:off x="731520" y="1097280"/>
            <a:ext cx="7680960" cy="365760"/>
          </a:xfrm>
          <a:prstGeom prst="rect">
            <a:avLst/>
          </a:prstGeom>
          <a:noFill/>
          <a:ln/>
        </p:spPr>
        <p:txBody>
          <a:bodyPr wrap="square" lIns="0" tIns="0" rIns="0" bIns="0" rtlCol="0" anchor="ctr"/>
          <a:lstStyle/>
          <a:p>
            <a:pPr marL="0" indent="0">
              <a:buNone/>
            </a:pPr>
            <a:r>
              <a:rPr lang="en-US" sz="2000" b="1" dirty="0">
                <a:solidFill>
                  <a:srgbClr val="2CB1A4"/>
                </a:solidFill>
                <a:latin typeface="Calibri" pitchFamily="34" charset="0"/>
                <a:ea typeface="Calibri" pitchFamily="34" charset="-122"/>
                <a:cs typeface="Calibri" pitchFamily="34" charset="-120"/>
              </a:rPr>
              <a:t>TinyFish — Free API Credits</a:t>
            </a:r>
            <a:endParaRPr lang="en-US" sz="2000" dirty="0"/>
          </a:p>
        </p:txBody>
      </p:sp>
      <p:sp>
        <p:nvSpPr>
          <p:cNvPr id="7" name="Text 4"/>
          <p:cNvSpPr/>
          <p:nvPr/>
        </p:nvSpPr>
        <p:spPr>
          <a:xfrm>
            <a:off x="731520" y="1508760"/>
            <a:ext cx="7680960" cy="320040"/>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Sign up using this link to get free TinyFish suite credits for the hackathon:</a:t>
            </a:r>
            <a:endParaRPr lang="en-US" sz="1400" dirty="0"/>
          </a:p>
        </p:txBody>
      </p:sp>
      <p:sp>
        <p:nvSpPr>
          <p:cNvPr id="8" name="Text 5">
            <a:hlinkClick r:id="rId4"/>
          </p:cNvPr>
          <p:cNvSpPr/>
          <p:nvPr/>
        </p:nvSpPr>
        <p:spPr>
          <a:xfrm>
            <a:off x="731520" y="1874520"/>
            <a:ext cx="7680960" cy="320040"/>
          </a:xfrm>
          <a:prstGeom prst="rect">
            <a:avLst/>
          </a:prstGeom>
          <a:noFill/>
          <a:ln/>
        </p:spPr>
        <p:txBody>
          <a:bodyPr wrap="square" lIns="0" tIns="0" rIns="0" bIns="0" rtlCol="0" anchor="ctr"/>
          <a:lstStyle/>
          <a:p>
            <a:pPr marL="0" indent="0">
              <a:buNone/>
            </a:pPr>
            <a:r>
              <a:rPr lang="en-US" sz="1300" u="sng" dirty="0">
                <a:solidFill>
                  <a:srgbClr val="4A90D9"/>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https://agent.tinyfish.ai/makeasplash?source=asuclaudehack</a:t>
            </a:r>
            <a:endParaRPr lang="en-US" sz="1300" dirty="0"/>
          </a:p>
        </p:txBody>
      </p:sp>
      <p:sp>
        <p:nvSpPr>
          <p:cNvPr id="9" name="Text 6"/>
          <p:cNvSpPr/>
          <p:nvPr/>
        </p:nvSpPr>
        <p:spPr>
          <a:xfrm>
            <a:off x="731520" y="2194560"/>
            <a:ext cx="7680960" cy="320040"/>
          </a:xfrm>
          <a:prstGeom prst="rect">
            <a:avLst/>
          </a:prstGeom>
          <a:noFill/>
          <a:ln/>
        </p:spPr>
        <p:txBody>
          <a:bodyPr wrap="square" lIns="0" tIns="0" rIns="0" bIns="0" rtlCol="0" anchor="ctr"/>
          <a:lstStyle/>
          <a:p>
            <a:pPr marL="0" indent="0">
              <a:buNone/>
            </a:pPr>
            <a:r>
              <a:rPr lang="en-US" sz="1200" i="1" dirty="0">
                <a:solidFill>
                  <a:srgbClr val="999999"/>
                </a:solidFill>
                <a:latin typeface="Calibri" pitchFamily="34" charset="0"/>
                <a:ea typeface="Calibri" pitchFamily="34" charset="-122"/>
                <a:cs typeface="Calibri" pitchFamily="34" charset="-120"/>
              </a:rPr>
              <a:t>Also: prizes for social posts, cookbook PRs, and accelerator golden tickets for winners!</a:t>
            </a:r>
            <a:endParaRPr lang="en-US" sz="1200" dirty="0"/>
          </a:p>
        </p:txBody>
      </p:sp>
      <p:sp>
        <p:nvSpPr>
          <p:cNvPr id="10" name="Shape 7"/>
          <p:cNvSpPr/>
          <p:nvPr/>
        </p:nvSpPr>
        <p:spPr>
          <a:xfrm>
            <a:off x="457200" y="2926080"/>
            <a:ext cx="8229600" cy="1463040"/>
          </a:xfrm>
          <a:prstGeom prst="rect">
            <a:avLst/>
          </a:prstGeom>
          <a:solidFill>
            <a:srgbClr val="1E1E1E"/>
          </a:solidFill>
          <a:ln/>
          <a:effectLst>
            <a:outerShdw blurRad="101600" dist="38100" dir="8100000" algn="bl" rotWithShape="0">
              <a:srgbClr val="000000">
                <a:alpha val="30000"/>
              </a:srgbClr>
            </a:outerShdw>
          </a:effectLst>
        </p:spPr>
        <p:txBody>
          <a:bodyPr/>
          <a:lstStyle/>
          <a:p>
            <a:endParaRPr lang="en-US"/>
          </a:p>
        </p:txBody>
      </p:sp>
      <p:sp>
        <p:nvSpPr>
          <p:cNvPr id="11" name="Shape 8"/>
          <p:cNvSpPr/>
          <p:nvPr/>
        </p:nvSpPr>
        <p:spPr>
          <a:xfrm>
            <a:off x="457200" y="2926080"/>
            <a:ext cx="45720" cy="1463040"/>
          </a:xfrm>
          <a:prstGeom prst="rect">
            <a:avLst/>
          </a:prstGeom>
          <a:solidFill>
            <a:srgbClr val="E07B3C"/>
          </a:solidFill>
          <a:ln/>
        </p:spPr>
        <p:txBody>
          <a:bodyPr/>
          <a:lstStyle/>
          <a:p>
            <a:endParaRPr lang="en-US"/>
          </a:p>
        </p:txBody>
      </p:sp>
      <p:sp>
        <p:nvSpPr>
          <p:cNvPr id="12" name="Text 9"/>
          <p:cNvSpPr/>
          <p:nvPr/>
        </p:nvSpPr>
        <p:spPr>
          <a:xfrm>
            <a:off x="731520" y="3017520"/>
            <a:ext cx="7680960" cy="365760"/>
          </a:xfrm>
          <a:prstGeom prst="rect">
            <a:avLst/>
          </a:prstGeom>
          <a:noFill/>
          <a:ln/>
        </p:spPr>
        <p:txBody>
          <a:bodyPr wrap="square" lIns="0" tIns="0" rIns="0" bIns="0" rtlCol="0" anchor="ctr"/>
          <a:lstStyle/>
          <a:p>
            <a:pPr marL="0" indent="0">
              <a:buNone/>
            </a:pPr>
            <a:r>
              <a:rPr lang="en-US" sz="2000" b="1" dirty="0">
                <a:solidFill>
                  <a:srgbClr val="E07B3C"/>
                </a:solidFill>
                <a:latin typeface="Calibri" pitchFamily="34" charset="0"/>
                <a:ea typeface="Calibri" pitchFamily="34" charset="-122"/>
                <a:cs typeface="Calibri" pitchFamily="34" charset="-120"/>
              </a:rPr>
              <a:t>InsForge — Free Backend Credits</a:t>
            </a:r>
            <a:endParaRPr lang="en-US" sz="2000" dirty="0"/>
          </a:p>
        </p:txBody>
      </p:sp>
      <p:sp>
        <p:nvSpPr>
          <p:cNvPr id="13" name="Text 10"/>
          <p:cNvSpPr/>
          <p:nvPr/>
        </p:nvSpPr>
        <p:spPr>
          <a:xfrm>
            <a:off x="731520" y="3429000"/>
            <a:ext cx="7680960" cy="320040"/>
          </a:xfrm>
          <a:prstGeom prst="rect">
            <a:avLst/>
          </a:prstGeom>
          <a:noFill/>
          <a:ln/>
        </p:spPr>
        <p:txBody>
          <a:bodyPr wrap="square" lIns="0" tIns="0" rIns="0" bIns="0" rtlCol="0" anchor="ctr"/>
          <a:lstStyle/>
          <a:p>
            <a:pPr marL="0" indent="0">
              <a:buNone/>
            </a:pPr>
            <a:r>
              <a:rPr lang="en-US" sz="1400" dirty="0">
                <a:solidFill>
                  <a:srgbClr val="C8C8C8"/>
                </a:solidFill>
                <a:latin typeface="Calibri" pitchFamily="34" charset="0"/>
                <a:ea typeface="Calibri" pitchFamily="34" charset="-122"/>
                <a:cs typeface="Calibri" pitchFamily="34" charset="-120"/>
              </a:rPr>
              <a:t>Enter this promo code to get free InsForge backend credits:</a:t>
            </a:r>
            <a:endParaRPr lang="en-US" sz="1400" dirty="0"/>
          </a:p>
        </p:txBody>
      </p:sp>
      <p:sp>
        <p:nvSpPr>
          <p:cNvPr id="14" name="Text 11"/>
          <p:cNvSpPr/>
          <p:nvPr/>
        </p:nvSpPr>
        <p:spPr>
          <a:xfrm>
            <a:off x="731520" y="3794760"/>
            <a:ext cx="7680960" cy="411480"/>
          </a:xfrm>
          <a:prstGeom prst="rect">
            <a:avLst/>
          </a:prstGeom>
          <a:noFill/>
          <a:ln/>
        </p:spPr>
        <p:txBody>
          <a:bodyPr wrap="square" lIns="0" tIns="0" rIns="0" bIns="0" rtlCol="0" anchor="ctr"/>
          <a:lstStyle/>
          <a:p>
            <a:pPr marL="0" indent="0">
              <a:buNone/>
            </a:pPr>
            <a:r>
              <a:rPr lang="en-US" sz="2600" b="1" kern="0" spc="300" dirty="0">
                <a:solidFill>
                  <a:srgbClr val="F5C842"/>
                </a:solidFill>
                <a:latin typeface="Calibri" pitchFamily="34" charset="0"/>
                <a:ea typeface="Calibri" pitchFamily="34" charset="-122"/>
                <a:cs typeface="Calibri" pitchFamily="34" charset="-120"/>
              </a:rPr>
              <a:t>INSFORGEXASU</a:t>
            </a:r>
            <a:endParaRPr lang="en-US" sz="2600" dirty="0"/>
          </a:p>
        </p:txBody>
      </p:sp>
      <p:sp>
        <p:nvSpPr>
          <p:cNvPr id="15" name="Shape 12"/>
          <p:cNvSpPr/>
          <p:nvPr/>
        </p:nvSpPr>
        <p:spPr>
          <a:xfrm>
            <a:off x="0" y="4709160"/>
            <a:ext cx="9144000" cy="434340"/>
          </a:xfrm>
          <a:prstGeom prst="rect">
            <a:avLst/>
          </a:prstGeom>
          <a:solidFill>
            <a:srgbClr val="1E1E1E"/>
          </a:solidFill>
          <a:ln/>
        </p:spPr>
        <p:txBody>
          <a:bodyPr/>
          <a:lstStyle/>
          <a:p>
            <a:endParaRPr lang="en-US"/>
          </a:p>
        </p:txBody>
      </p:sp>
      <p:sp>
        <p:nvSpPr>
          <p:cNvPr id="16" name="Text 13"/>
          <p:cNvSpPr/>
          <p:nvPr/>
        </p:nvSpPr>
        <p:spPr>
          <a:xfrm>
            <a:off x="457200" y="4754880"/>
            <a:ext cx="8229600" cy="32004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Claude Builder Club  |  HackASU  |  March 20–22,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1331</Words>
  <Application>Microsoft Macintosh PowerPoint</Application>
  <PresentationFormat>On-screen Show (16:9)</PresentationFormat>
  <Paragraphs>203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HackASU - Claude Builder Club Hackathon</dc:title>
  <dc:subject>PptxGenJS Presentation</dc:subject>
  <dc:creator>ASU Claude Builder Club</dc:creator>
  <cp:lastModifiedBy>Nicholas Gonzalez (Student)</cp:lastModifiedBy>
  <cp:revision>2</cp:revision>
  <dcterms:created xsi:type="dcterms:W3CDTF">2026-03-20T21:01:44Z</dcterms:created>
  <dcterms:modified xsi:type="dcterms:W3CDTF">2026-03-20T22:59:50Z</dcterms:modified>
</cp:coreProperties>
</file>
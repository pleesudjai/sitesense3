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615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34747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74720"/>
            <a:ext cx="1216152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371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 i="0">
                <a:solidFill>
                  <a:srgbClr val="FFFFFF"/>
                </a:solidFill>
              </a:rPr>
              <a:t>🏗️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57200"/>
            <a:ext cx="9875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</a:rPr>
              <a:t>SiteSense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69164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2C39A"/>
                </a:solidFill>
              </a:rPr>
              <a:t>AI-Powered Land Feasibility in 30 Seconds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51460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7FF"/>
                </a:solidFill>
              </a:rPr>
              <a:t>HackASU 2025  ·  Track 3: Economic Empowerment &amp; Education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0F7FF"/>
                </a:solidFill>
              </a:rPr>
              <a:t>"Drop a pin, draw your lot — get a code-compliant feasibility study in 30 seconds.
What used to cost $50,000 and 3 weeks now takes half a minute."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577840"/>
            <a:ext cx="1216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5A5A6"/>
                </a:solidFill>
              </a:rPr>
              <a:t>Mobasher Group  ·  Arizona State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3796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5A5A6"/>
                </a:solidFill>
              </a:rPr>
              <a:t>Claude Builder Club  ·  HackASU  ·  March 20–22,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0F7FF"/>
                </a:solidFill>
              </a:rPr>
              <a:t>Affordable housing is in crisis — and bad land decisions are a big reason why.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3566160" cy="228600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2C39A"/>
                </a:solidFill>
              </a:rPr>
              <a:t>$10K–$50K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7FF"/>
                </a:solidFill>
              </a:rPr>
              <a:t>Cost of a land feasibility study from a licensed PE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600200"/>
            <a:ext cx="3566160" cy="228600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2C39A"/>
                </a:solidFill>
              </a:rPr>
              <a:t>3 Weeks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60604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7FF"/>
                </a:solidFill>
              </a:rPr>
              <a:t>Typical time to get a preliminary site assessment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1600200"/>
            <a:ext cx="3566160" cy="228600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19" y="17830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2C39A"/>
                </a:solidFill>
              </a:rPr>
              <a:t>Fly Blind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19" y="260604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7FF"/>
                </a:solidFill>
              </a:rPr>
              <a:t>Most buyers make $500K decisions with zero engineering insight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023360"/>
            <a:ext cx="11430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F0F7FF"/>
                </a:solidFill>
              </a:rPr>
              <a:t>▸  Land buyers, architects, and developers are NOT engineers — they can't evaluate a site alone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0F7FF"/>
                </a:solidFill>
              </a:rPr>
              <a:t>▸  They waste months going back-and-forth with engineers on ideas that were never feasible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0F7FF"/>
                </a:solidFill>
              </a:rPr>
              <a:t>▸  This kills affordable housing projects before they start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0F7FF"/>
                </a:solidFill>
              </a:rPr>
              <a:t>▸  Our tool closes this gap — smart feasibility BEFORE the engineer meeting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53796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5A5A6"/>
                </a:solidFill>
              </a:rPr>
              <a:t>Claude Builder Club  ·  HackASU  ·  March 20–22,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Who It Helps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651760" cy="4114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🏘️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1168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2C39A"/>
                </a:solidFill>
              </a:rPr>
              <a:t>Affordable Housing
Developer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83464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7FF"/>
                </a:solidFill>
              </a:rPr>
              <a:t>Runs feasibility before spending $50K on an engineer. Builds more, faster.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188720"/>
            <a:ext cx="2651760" cy="4114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39" y="13258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79" y="201168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2C39A"/>
                </a:solidFill>
              </a:rPr>
              <a:t>First-Time Land
Buyer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79" y="283464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7FF"/>
                </a:solidFill>
              </a:rPr>
              <a:t>Understands what they can build before closing. No more costly surprises.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188720"/>
            <a:ext cx="2651760" cy="4114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3258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✏️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01168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2C39A"/>
                </a:solidFill>
              </a:rPr>
              <a:t>Architect / Designer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83464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7FF"/>
                </a:solidFill>
              </a:rPr>
              <a:t>Checks site constraints in 30 seconds. Designs for what's actually buildable.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06840" y="1188720"/>
            <a:ext cx="2651760" cy="4114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13258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01168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2C39A"/>
                </a:solidFill>
              </a:rPr>
              <a:t>Investor /
Land Flipper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83464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7FF"/>
                </a:solidFill>
              </a:rPr>
              <a:t>Quick due diligence on any US parcel. Better decisions, less risk.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4864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2C39A"/>
                </a:solidFill>
              </a:rPr>
              <a:t>Track 3 Equity Angle: Engineering knowledge is gatekept behind $50K consultants.
SiteSense makes it free and instant — for everyone.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53796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5A5A6"/>
                </a:solidFill>
              </a:rPr>
              <a:t>Claude Builder Club  ·  HackASU  ·  March 20–22,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How It Works — 5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19" y="1097280"/>
            <a:ext cx="1005840" cy="10058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19" y="109728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1295C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4248" y="1417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5A5A6"/>
                </a:solidFill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219456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Drop a Pin
&amp; Draw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9718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5A5A6"/>
                </a:solidFill>
              </a:rPr>
              <a:t>Mapbox satellite map
Polygon drawing tool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39" y="1097280"/>
            <a:ext cx="1005840" cy="10058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39" y="109728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1295C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1417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5A5A6"/>
                </a:solidFill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19456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Auto Data
Pull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9718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5A5A6"/>
                </a:solidFill>
              </a:rPr>
              <a:t>USGS elevation grid
FEMA flood + USDA soil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59" y="1097280"/>
            <a:ext cx="1005840" cy="10058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3559" y="109728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1295C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1417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5A5A6"/>
                </a:solidFill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19" y="219456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GIS Risk
Layers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19" y="29718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5A5A6"/>
                </a:solidFill>
              </a:rPr>
              <a:t>Seismic · Fire · Wetlands
Wind · Snow · Landslide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79" y="1097280"/>
            <a:ext cx="1005840" cy="10058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79" y="109728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1295C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7" y="1417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5A5A6"/>
                </a:solidFill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219456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Civil
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29718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5A5A6"/>
                </a:solidFill>
              </a:rPr>
              <a:t>ACI 350-20 + ACI 360R-10
ASCE 7-22 rule engine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286999" y="1097280"/>
            <a:ext cx="1005840" cy="10058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86999" y="109728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1295C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59" y="219456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Plain
English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59" y="29718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5A5A6"/>
                </a:solidFill>
              </a:rPr>
              <a:t>Claude API translates
→ PDF report download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251960"/>
            <a:ext cx="11247120" cy="1463040"/>
          </a:xfrm>
          <a:prstGeom prst="rect">
            <a:avLst/>
          </a:prstGeom>
          <a:solidFill>
            <a:srgbClr val="1C7293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3891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Address → Polygon → Analysis → Report  in under 30 seconds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892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7FF"/>
                </a:solidFill>
              </a:rPr>
              <a:t>All GIS data from FREE US government APIs (USGS · FEMA · USDA · USFWS) — no subscriptions needed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53796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5A5A6"/>
                </a:solidFill>
              </a:rPr>
              <a:t>Claude Builder Club  ·  HackASU  ·  March 20–22,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B74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Engineering Moat — Why We're Not Just ChatGPT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303520" cy="475488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</a:rPr>
              <a:t>Others vs. SiteSense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74C3C"/>
                </a:solidFill>
              </a:rPr>
              <a:t>✗  Generic LLM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7373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7AE60"/>
                </a:solidFill>
              </a:rPr>
              <a:t>✓  ACI 350-20 + ACI 360R-10
ASCE 7-22 validated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87168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74C3C"/>
                </a:solidFill>
              </a:rPr>
              <a:t>✗  No code 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487168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7AE60"/>
                </a:solidFill>
              </a:rPr>
              <a:t>✓  Every rule cites chapter
&amp; section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36976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74C3C"/>
                </a:solidFill>
              </a:rPr>
              <a:t>✗  Anyone can copy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236976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7AE60"/>
                </a:solidFill>
              </a:rPr>
              <a:t>✓  Proprietary rule engine
= our 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86783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74C3C"/>
                </a:solidFill>
              </a:rPr>
              <a:t>✗  Hallucinated numbers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986783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7AE60"/>
                </a:solidFill>
              </a:rPr>
              <a:t>✓  USGS/FEMA/USDA data
= defensible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3659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74C3C"/>
                </a:solidFill>
              </a:rPr>
              <a:t>✗  No Arizona knowledge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736592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7AE60"/>
                </a:solidFill>
              </a:rPr>
              <a:t>✓  Caliche · Washes · Expansive
soil · Water adequacy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097280"/>
            <a:ext cx="5852160" cy="4754880"/>
          </a:xfrm>
          <a:prstGeom prst="rect">
            <a:avLst/>
          </a:prstGeom>
          <a:solidFill>
            <a:srgbClr val="0D1B2A"/>
          </a:solidFill>
          <a:ln w="127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</a:rPr>
              <a:t>Code Basis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783080"/>
            <a:ext cx="54864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</a:rPr>
              <a:t>ACI 350-20 / 350R-20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13055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5A5A6"/>
                </a:solidFill>
              </a:rPr>
              <a:t>Environmental engineering concrete structures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578608"/>
            <a:ext cx="54864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624327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</a:rPr>
              <a:t>ACI 360R-10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9260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5A5A6"/>
                </a:solidFill>
              </a:rPr>
              <a:t>Slab-on-ground design and construction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374136"/>
            <a:ext cx="54864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41985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</a:rPr>
              <a:t>ASCE 7-22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72160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5A5A6"/>
                </a:solidFill>
              </a:rPr>
              <a:t>Wind · Seismic · Flood · Snow loads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4169663"/>
            <a:ext cx="54864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215383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7FF"/>
                </a:solidFill>
              </a:rPr>
              <a:t>IBC 2021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51713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5A5A6"/>
                </a:solidFill>
              </a:rPr>
              <a:t>Soils §1803 · Flood §1612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4965192"/>
            <a:ext cx="54864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109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7FF"/>
                </a:solidFill>
              </a:rPr>
              <a:t>CWA §404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31266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5A5A6"/>
                </a:solidFill>
              </a:rPr>
              <a:t>Wetlands jurisdiction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3796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5A5A6"/>
                </a:solidFill>
              </a:rPr>
              <a:t>Claude Builder Club  ·  HackASU  ·  March 20–22,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3657600" cy="3474720"/>
          </a:xfrm>
          <a:prstGeom prst="rect">
            <a:avLst/>
          </a:prstGeom>
          <a:solidFill>
            <a:srgbClr val="065A82"/>
          </a:solidFill>
          <a:ln w="1905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2C39A"/>
                </a:solidFill>
              </a:rPr>
              <a:t>📍 Phoenix AZ — Flat 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7FF"/>
                </a:solidFill>
              </a:rPr>
              <a:t>Flood Zone X · Expansive soil
Conventional slab · Low risk
Site prep: ~$85K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188720"/>
            <a:ext cx="3657600" cy="3474720"/>
          </a:xfrm>
          <a:prstGeom prst="rect">
            <a:avLst/>
          </a:prstGeom>
          <a:solidFill>
            <a:srgbClr val="065A82"/>
          </a:solidFill>
          <a:ln w="1905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32588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2C39A"/>
                </a:solidFill>
              </a:rPr>
              <a:t>🌊 Houston TX — Flood Zone AE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96596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7FF"/>
                </a:solidFill>
              </a:rPr>
              <a:t>SFHA zone · Base flood: +4 ft
Pile / elevated foundation
Site prep: ~$210K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188720"/>
            <a:ext cx="3657600" cy="3474720"/>
          </a:xfrm>
          <a:prstGeom prst="rect">
            <a:avLst/>
          </a:prstGeom>
          <a:solidFill>
            <a:srgbClr val="065A82"/>
          </a:solidFill>
          <a:ln w="1905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32588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2C39A"/>
                </a:solidFill>
              </a:rPr>
              <a:t>⛰️ Flagstaff AZ — Slope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196596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7FF"/>
                </a:solidFill>
              </a:rPr>
              <a:t>30% slope · 40 psf snow
Drilled caisson foundation
Site prep: ~$175K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846320"/>
            <a:ext cx="11430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100">
                <a:solidFill>
                  <a:srgbClr val="F0F7FF"/>
                </a:solidFill>
              </a:rPr>
              <a:t>▸  🗺️  Satellite map + polygon draw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F0F7FF"/>
                </a:solidFill>
              </a:rPr>
              <a:t>▸  📊  Elevation cross-section chart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F0F7FF"/>
                </a:solidFill>
              </a:rPr>
              <a:t>▸  🔴🟡🟢  Traffic-light risk cards (flood, seismic, fire, soil, wetlands)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F0F7FF"/>
                </a:solidFill>
              </a:rPr>
              <a:t>▸  🏗️  Cut &amp; fill bar chart (cubic yards)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F0F7FF"/>
                </a:solidFill>
              </a:rPr>
              <a:t>▸  💰  Cost now + 10-year projection table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F0F7FF"/>
                </a:solidFill>
              </a:rPr>
              <a:t>▸  📄  One-click PDF report (Claude plain-English translation)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653796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5A5A6"/>
                </a:solidFill>
              </a:rPr>
              <a:t>Claude Builder Club  ·  HackASU  ·  March 20–22,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256032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2C39A"/>
                </a:solidFill>
              </a:rPr>
              <a:t>Why We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0F7FF"/>
                </a:solidFill>
              </a:rPr>
              <a:t>"You bought a piece of land. Now what? Most developers waste months and thousands of dollars
going back-and-forth with engineers on ideas that were never feasible.
Our tool changes that — in 30 seconds."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43200"/>
            <a:ext cx="3566160" cy="3383280"/>
          </a:xfrm>
          <a:prstGeom prst="rect">
            <a:avLst/>
          </a:prstGeom>
          <a:solidFill>
            <a:srgbClr val="1C7293"/>
          </a:solidFill>
          <a:ln w="1905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661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Real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11480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7FF"/>
                </a:solidFill>
              </a:rPr>
              <a:t>$50K feasibility → free in 30 sec
Millions of land deals per year
Affordable housing crisis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2743200"/>
            <a:ext cx="3566160" cy="3383280"/>
          </a:xfrm>
          <a:prstGeom prst="rect">
            <a:avLst/>
          </a:prstGeom>
          <a:solidFill>
            <a:srgbClr val="1C7293"/>
          </a:solidFill>
          <a:ln w="1905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8346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5661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Technical Moat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411480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7FF"/>
                </a:solidFill>
              </a:rPr>
              <a:t>ACI 350-20 + ACI 360R-10
ASCE 7-22 rule engine
10 GIS data layers
Arizona-specific rules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743200"/>
            <a:ext cx="3566160" cy="3383280"/>
          </a:xfrm>
          <a:prstGeom prst="rect">
            <a:avLst/>
          </a:prstGeom>
          <a:solidFill>
            <a:srgbClr val="1C7293"/>
          </a:solidFill>
          <a:ln w="1905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8346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5661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Beyond Hackathon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411480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7FF"/>
                </a:solidFill>
              </a:rPr>
              <a:t>Expand to full USA zoning
Engineer marketplace
Sell API to Zillow / Redfin
Thailand + SE Asia 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6263640"/>
            <a:ext cx="1216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2C39A"/>
                </a:solidFill>
              </a:rPr>
              <a:t>Mobasher Group · ASU Civil Engineering · HackASU 2025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3796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5A5A6"/>
                </a:solidFill>
              </a:rPr>
              <a:t>Claude Builder Club  ·  HackASU  ·  March 20–22,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SiteSense — AI Land Feasibility Tool</dc:title>
  <dc:subject/>
  <dc:creator>Mobasher Group, ASU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